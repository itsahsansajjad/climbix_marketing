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Open Sauce" charset="1" panose="00000500000000000000"/>
      <p:regular r:id="rId14"/>
    </p:embeddedFont>
    <p:embeddedFont>
      <p:font typeface="Open Sauce Bold" charset="1" panose="00000800000000000000"/>
      <p:regular r:id="rId15"/>
    </p:embeddedFont>
    <p:embeddedFont>
      <p:font typeface="Telegraf" charset="1" panose="00000500000000000000"/>
      <p:regular r:id="rId16"/>
    </p:embeddedFont>
    <p:embeddedFont>
      <p:font typeface="Telegraf Bold" charset="1" panose="00000800000000000000"/>
      <p:regular r:id="rId17"/>
    </p:embeddedFont>
    <p:embeddedFont>
      <p:font typeface="Open Sauce Medium" charset="1" panose="00000600000000000000"/>
      <p:regular r:id="rId18"/>
    </p:embeddedFont>
    <p:embeddedFont>
      <p:font typeface="Canva Sans Bold" charset="1" panose="020B0803030501040103"/>
      <p:regular r:id="rId19"/>
    </p:embeddedFont>
    <p:embeddedFont>
      <p:font typeface="Canva Sans" charset="1" panose="020B0503030501040103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9.jpeg" Type="http://schemas.openxmlformats.org/officeDocument/2006/relationships/image"/><Relationship Id="rId4" Target="../media/image10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Relationship Id="rId3" Target="../media/image12.jpeg" Type="http://schemas.openxmlformats.org/officeDocument/2006/relationships/image"/><Relationship Id="rId4" Target="../media/image13.jpeg" Type="http://schemas.openxmlformats.org/officeDocument/2006/relationships/image"/><Relationship Id="rId5" Target="../media/image14.png" Type="http://schemas.openxmlformats.org/officeDocument/2006/relationships/image"/><Relationship Id="rId6" Target="../media/image15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png" Type="http://schemas.openxmlformats.org/officeDocument/2006/relationships/image"/><Relationship Id="rId11" Target="../media/image24.svg" Type="http://schemas.openxmlformats.org/officeDocument/2006/relationships/image"/><Relationship Id="rId12" Target="../media/image25.png" Type="http://schemas.openxmlformats.org/officeDocument/2006/relationships/image"/><Relationship Id="rId13" Target="../media/image26.svg" Type="http://schemas.openxmlformats.org/officeDocument/2006/relationships/image"/><Relationship Id="rId2" Target="../media/image16.jpeg" Type="http://schemas.openxmlformats.org/officeDocument/2006/relationships/image"/><Relationship Id="rId3" Target="../media/image10.jpeg" Type="http://schemas.openxmlformats.org/officeDocument/2006/relationships/image"/><Relationship Id="rId4" Target="../media/image17.png" Type="http://schemas.openxmlformats.org/officeDocument/2006/relationships/image"/><Relationship Id="rId5" Target="../media/image18.jpeg" Type="http://schemas.openxmlformats.org/officeDocument/2006/relationships/image"/><Relationship Id="rId6" Target="../media/image19.png" Type="http://schemas.openxmlformats.org/officeDocument/2006/relationships/image"/><Relationship Id="rId7" Target="../media/image20.svg" Type="http://schemas.openxmlformats.org/officeDocument/2006/relationships/image"/><Relationship Id="rId8" Target="../media/image21.png" Type="http://schemas.openxmlformats.org/officeDocument/2006/relationships/image"/><Relationship Id="rId9" Target="../media/image2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Relationship Id="rId3" Target="../media/image2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Relationship Id="rId3" Target="../media/image30.svg" Type="http://schemas.openxmlformats.org/officeDocument/2006/relationships/image"/><Relationship Id="rId4" Target="../media/image31.png" Type="http://schemas.openxmlformats.org/officeDocument/2006/relationships/image"/><Relationship Id="rId5" Target="../media/image32.svg" Type="http://schemas.openxmlformats.org/officeDocument/2006/relationships/image"/><Relationship Id="rId6" Target="../media/image33.png" Type="http://schemas.openxmlformats.org/officeDocument/2006/relationships/image"/><Relationship Id="rId7" Target="../media/image3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64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367010"/>
          </a:xfrm>
          <a:custGeom>
            <a:avLst/>
            <a:gdLst/>
            <a:ahLst/>
            <a:cxnLst/>
            <a:rect r="r" b="b" t="t" l="l"/>
            <a:pathLst>
              <a:path h="10367010" w="18288000">
                <a:moveTo>
                  <a:pt x="0" y="0"/>
                </a:moveTo>
                <a:lnTo>
                  <a:pt x="18288000" y="0"/>
                </a:lnTo>
                <a:lnTo>
                  <a:pt x="18288000" y="10367010"/>
                </a:lnTo>
                <a:lnTo>
                  <a:pt x="0" y="103670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4005072"/>
            <a:ext cx="7677402" cy="2526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92"/>
              </a:lnSpc>
              <a:spcBef>
                <a:spcPct val="0"/>
              </a:spcBef>
            </a:pPr>
            <a:r>
              <a:rPr lang="en-US" sz="48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Hi, I’m Ahmad</a:t>
            </a:r>
            <a:r>
              <a:rPr lang="en-US" sz="4800" strike="noStrike" u="none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Performance Marketing</a:t>
            </a:r>
            <a:r>
              <a:rPr lang="en-US" sz="4800" strike="noStrike" u="none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Specialist</a:t>
            </a:r>
          </a:p>
          <a:p>
            <a:pPr algn="l" marL="0" indent="0" lvl="0">
              <a:lnSpc>
                <a:spcPts val="4992"/>
              </a:lnSpc>
              <a:spcBef>
                <a:spcPct val="0"/>
              </a:spcBef>
            </a:pPr>
            <a:r>
              <a:rPr lang="en-US" sz="4800" strike="noStrike" u="none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—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228725"/>
            <a:ext cx="8115300" cy="1378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00"/>
              </a:lnSpc>
            </a:pPr>
            <a:r>
              <a:rPr lang="en-US" sz="10400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PORTFOLIO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7748270"/>
            <a:ext cx="6894980" cy="1510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spc="47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+92 301-7740420</a:t>
            </a:r>
          </a:p>
          <a:p>
            <a:pPr algn="l">
              <a:lnSpc>
                <a:spcPts val="3919"/>
              </a:lnSpc>
            </a:pPr>
            <a:r>
              <a:rPr lang="en-US" sz="2799" spc="47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@Ahmedjalal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 spc="47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mahmadmj78@gmail.com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7866844" cy="10287000"/>
            <a:chOff x="0" y="0"/>
            <a:chExt cx="2071926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71926" cy="2709333"/>
            </a:xfrm>
            <a:custGeom>
              <a:avLst/>
              <a:gdLst/>
              <a:ahLst/>
              <a:cxnLst/>
              <a:rect r="r" b="b" t="t" l="l"/>
              <a:pathLst>
                <a:path h="2709333" w="2071926">
                  <a:moveTo>
                    <a:pt x="0" y="0"/>
                  </a:moveTo>
                  <a:lnTo>
                    <a:pt x="2071926" y="0"/>
                  </a:lnTo>
                  <a:lnTo>
                    <a:pt x="207192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DFE2E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071926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7764801"/>
            <a:ext cx="5985582" cy="1493499"/>
            <a:chOff x="0" y="0"/>
            <a:chExt cx="1576449" cy="3933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76450" cy="393350"/>
            </a:xfrm>
            <a:custGeom>
              <a:avLst/>
              <a:gdLst/>
              <a:ahLst/>
              <a:cxnLst/>
              <a:rect r="r" b="b" t="t" l="l"/>
              <a:pathLst>
                <a:path h="393350" w="1576450">
                  <a:moveTo>
                    <a:pt x="0" y="0"/>
                  </a:moveTo>
                  <a:lnTo>
                    <a:pt x="1576450" y="0"/>
                  </a:lnTo>
                  <a:lnTo>
                    <a:pt x="1576450" y="393350"/>
                  </a:lnTo>
                  <a:lnTo>
                    <a:pt x="0" y="393350"/>
                  </a:lnTo>
                  <a:close/>
                </a:path>
              </a:pathLst>
            </a:custGeom>
            <a:solidFill>
              <a:srgbClr val="EFF1F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576449" cy="431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28700" y="2684438"/>
            <a:ext cx="5985582" cy="5080363"/>
            <a:chOff x="0" y="0"/>
            <a:chExt cx="2473221" cy="209918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73221" cy="2099188"/>
            </a:xfrm>
            <a:custGeom>
              <a:avLst/>
              <a:gdLst/>
              <a:ahLst/>
              <a:cxnLst/>
              <a:rect r="r" b="b" t="t" l="l"/>
              <a:pathLst>
                <a:path h="2099188" w="2473221">
                  <a:moveTo>
                    <a:pt x="0" y="0"/>
                  </a:moveTo>
                  <a:lnTo>
                    <a:pt x="2473221" y="0"/>
                  </a:lnTo>
                  <a:lnTo>
                    <a:pt x="2473221" y="2099188"/>
                  </a:lnTo>
                  <a:lnTo>
                    <a:pt x="0" y="2099188"/>
                  </a:lnTo>
                  <a:close/>
                </a:path>
              </a:pathLst>
            </a:custGeom>
            <a:blipFill>
              <a:blip r:embed="rId2"/>
              <a:stretch>
                <a:fillRect l="-768" t="-67431" r="-2128" b="-14415"/>
              </a:stretch>
            </a:blipFill>
          </p:spPr>
        </p:sp>
      </p:grpSp>
      <p:sp>
        <p:nvSpPr>
          <p:cNvPr name="AutoShape 10" id="10"/>
          <p:cNvSpPr/>
          <p:nvPr/>
        </p:nvSpPr>
        <p:spPr>
          <a:xfrm>
            <a:off x="8597140" y="1883852"/>
            <a:ext cx="8661805" cy="0"/>
          </a:xfrm>
          <a:prstGeom prst="line">
            <a:avLst/>
          </a:prstGeom>
          <a:ln cap="flat" w="19050">
            <a:solidFill>
              <a:srgbClr val="A6A6A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" id="11"/>
          <p:cNvGrpSpPr/>
          <p:nvPr/>
        </p:nvGrpSpPr>
        <p:grpSpPr>
          <a:xfrm rot="0">
            <a:off x="1041573" y="132380"/>
            <a:ext cx="5959836" cy="7632421"/>
            <a:chOff x="0" y="0"/>
            <a:chExt cx="833793" cy="106779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33793" cy="1067791"/>
            </a:xfrm>
            <a:custGeom>
              <a:avLst/>
              <a:gdLst/>
              <a:ahLst/>
              <a:cxnLst/>
              <a:rect r="r" b="b" t="t" l="l"/>
              <a:pathLst>
                <a:path h="1067791" w="833793">
                  <a:moveTo>
                    <a:pt x="0" y="0"/>
                  </a:moveTo>
                  <a:lnTo>
                    <a:pt x="833793" y="0"/>
                  </a:lnTo>
                  <a:lnTo>
                    <a:pt x="833793" y="1067791"/>
                  </a:lnTo>
                  <a:lnTo>
                    <a:pt x="0" y="1067791"/>
                  </a:lnTo>
                  <a:close/>
                </a:path>
              </a:pathLst>
            </a:custGeom>
            <a:blipFill>
              <a:blip r:embed="rId3"/>
              <a:stretch>
                <a:fillRect l="0" t="-8564" r="0" b="-8564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8597140" y="7176771"/>
            <a:ext cx="105657" cy="105657"/>
            <a:chOff x="0" y="0"/>
            <a:chExt cx="27827" cy="2782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7827" cy="27827"/>
            </a:xfrm>
            <a:custGeom>
              <a:avLst/>
              <a:gdLst/>
              <a:ahLst/>
              <a:cxnLst/>
              <a:rect r="r" b="b" t="t" l="l"/>
              <a:pathLst>
                <a:path h="27827" w="27827">
                  <a:moveTo>
                    <a:pt x="0" y="0"/>
                  </a:moveTo>
                  <a:lnTo>
                    <a:pt x="27827" y="0"/>
                  </a:lnTo>
                  <a:lnTo>
                    <a:pt x="27827" y="27827"/>
                  </a:lnTo>
                  <a:lnTo>
                    <a:pt x="0" y="27827"/>
                  </a:lnTo>
                  <a:close/>
                </a:path>
              </a:pathLst>
            </a:custGeom>
            <a:solidFill>
              <a:srgbClr val="737373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76200"/>
              <a:ext cx="27827" cy="1040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596785" y="8495192"/>
            <a:ext cx="105657" cy="105657"/>
            <a:chOff x="0" y="0"/>
            <a:chExt cx="27827" cy="2782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7827" cy="27827"/>
            </a:xfrm>
            <a:custGeom>
              <a:avLst/>
              <a:gdLst/>
              <a:ahLst/>
              <a:cxnLst/>
              <a:rect r="r" b="b" t="t" l="l"/>
              <a:pathLst>
                <a:path h="27827" w="27827">
                  <a:moveTo>
                    <a:pt x="0" y="0"/>
                  </a:moveTo>
                  <a:lnTo>
                    <a:pt x="27827" y="0"/>
                  </a:lnTo>
                  <a:lnTo>
                    <a:pt x="27827" y="27827"/>
                  </a:lnTo>
                  <a:lnTo>
                    <a:pt x="0" y="27827"/>
                  </a:lnTo>
                  <a:close/>
                </a:path>
              </a:pathLst>
            </a:custGeom>
            <a:solidFill>
              <a:srgbClr val="737373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76200"/>
              <a:ext cx="27827" cy="1040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8597140" y="1123950"/>
            <a:ext cx="7614497" cy="63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b="true" sz="4800">
                <a:solidFill>
                  <a:srgbClr val="100F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ABOUT ME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711968" y="2728453"/>
            <a:ext cx="9236968" cy="3495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spc="35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Digital Marketing &amp; Performance Specialist with </a:t>
            </a:r>
            <a:r>
              <a:rPr lang="en-US" sz="2100" spc="35" b="true">
                <a:solidFill>
                  <a:srgbClr val="737373"/>
                </a:solidFill>
                <a:latin typeface="Telegraf Bold"/>
                <a:ea typeface="Telegraf Bold"/>
                <a:cs typeface="Telegraf Bold"/>
                <a:sym typeface="Telegraf Bold"/>
              </a:rPr>
              <a:t>5+ years of experience</a:t>
            </a:r>
            <a:r>
              <a:rPr lang="en-US" sz="2100" spc="35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 driving scalable growth &amp;</a:t>
            </a:r>
          </a:p>
          <a:p>
            <a:pPr algn="l">
              <a:lnSpc>
                <a:spcPts val="2520"/>
              </a:lnSpc>
            </a:pPr>
            <a:r>
              <a:rPr lang="en-US" sz="2100" spc="35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generating over </a:t>
            </a:r>
            <a:r>
              <a:rPr lang="en-US" sz="2100" spc="35" b="true">
                <a:solidFill>
                  <a:srgbClr val="737373"/>
                </a:solidFill>
                <a:latin typeface="Telegraf Bold"/>
                <a:ea typeface="Telegraf Bold"/>
                <a:cs typeface="Telegraf Bold"/>
                <a:sym typeface="Telegraf Bold"/>
              </a:rPr>
              <a:t>8X ROAS </a:t>
            </a:r>
            <a:r>
              <a:rPr lang="en-US" sz="2100" spc="35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on PPC campaigns, boosting </a:t>
            </a:r>
            <a:r>
              <a:rPr lang="en-US" sz="2100" spc="35" b="true">
                <a:solidFill>
                  <a:srgbClr val="737373"/>
                </a:solidFill>
                <a:latin typeface="Telegraf Bold"/>
                <a:ea typeface="Telegraf Bold"/>
                <a:cs typeface="Telegraf Bold"/>
                <a:sym typeface="Telegraf Bold"/>
              </a:rPr>
              <a:t>28% ROI</a:t>
            </a:r>
            <a:r>
              <a:rPr lang="en-US" sz="2100" spc="35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 for eCommerce and service-based</a:t>
            </a:r>
          </a:p>
          <a:p>
            <a:pPr algn="l">
              <a:lnSpc>
                <a:spcPts val="2520"/>
              </a:lnSpc>
            </a:pPr>
            <a:r>
              <a:rPr lang="en-US" sz="2100" spc="35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clients, and ranking </a:t>
            </a:r>
            <a:r>
              <a:rPr lang="en-US" sz="2100" spc="35" b="true">
                <a:solidFill>
                  <a:srgbClr val="737373"/>
                </a:solidFill>
                <a:latin typeface="Telegraf Bold"/>
                <a:ea typeface="Telegraf Bold"/>
                <a:cs typeface="Telegraf Bold"/>
                <a:sym typeface="Telegraf Bold"/>
              </a:rPr>
              <a:t>280+ keywords on Google’s first page</a:t>
            </a:r>
            <a:r>
              <a:rPr lang="en-US" sz="2100" spc="35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. Specialized in performance marketing,</a:t>
            </a:r>
          </a:p>
          <a:p>
            <a:pPr algn="l">
              <a:lnSpc>
                <a:spcPts val="2520"/>
              </a:lnSpc>
            </a:pPr>
            <a:r>
              <a:rPr lang="en-US" sz="2100" spc="35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growth strategy, and conversion.</a:t>
            </a:r>
          </a:p>
          <a:p>
            <a:pPr algn="l">
              <a:lnSpc>
                <a:spcPts val="2520"/>
              </a:lnSpc>
            </a:pPr>
            <a:r>
              <a:rPr lang="en-US" sz="2100" spc="35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Expert in managing multi-channel campaigns across </a:t>
            </a:r>
            <a:r>
              <a:rPr lang="en-US" sz="2100" spc="35" b="true">
                <a:solidFill>
                  <a:srgbClr val="737373"/>
                </a:solidFill>
                <a:latin typeface="Telegraf Bold"/>
                <a:ea typeface="Telegraf Bold"/>
                <a:cs typeface="Telegraf Bold"/>
                <a:sym typeface="Telegraf Bold"/>
              </a:rPr>
              <a:t>Google</a:t>
            </a:r>
            <a:r>
              <a:rPr lang="en-US" sz="2100" spc="35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100" spc="35" b="true">
                <a:solidFill>
                  <a:srgbClr val="737373"/>
                </a:solidFill>
                <a:latin typeface="Telegraf Bold"/>
                <a:ea typeface="Telegraf Bold"/>
                <a:cs typeface="Telegraf Bold"/>
                <a:sym typeface="Telegraf Bold"/>
              </a:rPr>
              <a:t>Ads</a:t>
            </a:r>
            <a:r>
              <a:rPr lang="en-US" sz="2100" spc="35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, </a:t>
            </a:r>
            <a:r>
              <a:rPr lang="en-US" sz="2100" spc="35" b="true">
                <a:solidFill>
                  <a:srgbClr val="737373"/>
                </a:solidFill>
                <a:latin typeface="Telegraf Bold"/>
                <a:ea typeface="Telegraf Bold"/>
                <a:cs typeface="Telegraf Bold"/>
                <a:sym typeface="Telegraf Bold"/>
              </a:rPr>
              <a:t>Meta</a:t>
            </a:r>
            <a:r>
              <a:rPr lang="en-US" sz="2100" spc="35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100" spc="35" b="true">
                <a:solidFill>
                  <a:srgbClr val="737373"/>
                </a:solidFill>
                <a:latin typeface="Telegraf Bold"/>
                <a:ea typeface="Telegraf Bold"/>
                <a:cs typeface="Telegraf Bold"/>
                <a:sym typeface="Telegraf Bold"/>
              </a:rPr>
              <a:t>Ads</a:t>
            </a:r>
            <a:r>
              <a:rPr lang="en-US" sz="2100" spc="35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, </a:t>
            </a:r>
            <a:r>
              <a:rPr lang="en-US" sz="2100" spc="35" b="true">
                <a:solidFill>
                  <a:srgbClr val="737373"/>
                </a:solidFill>
                <a:latin typeface="Telegraf Bold"/>
                <a:ea typeface="Telegraf Bold"/>
                <a:cs typeface="Telegraf Bold"/>
                <a:sym typeface="Telegraf Bold"/>
              </a:rPr>
              <a:t>Bing Ads, </a:t>
            </a:r>
            <a:r>
              <a:rPr lang="en-US" sz="2100" spc="35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and</a:t>
            </a:r>
            <a:r>
              <a:rPr lang="en-US" sz="2100" spc="35" b="true">
                <a:solidFill>
                  <a:srgbClr val="737373"/>
                </a:solidFill>
                <a:latin typeface="Telegraf Bold"/>
                <a:ea typeface="Telegraf Bold"/>
                <a:cs typeface="Telegraf Bold"/>
                <a:sym typeface="Telegraf Bold"/>
              </a:rPr>
              <a:t> SEO</a:t>
            </a:r>
          </a:p>
          <a:p>
            <a:pPr algn="l">
              <a:lnSpc>
                <a:spcPts val="2520"/>
              </a:lnSpc>
            </a:pPr>
            <a:r>
              <a:rPr lang="en-US" sz="2100" spc="35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strategies for international clients in </a:t>
            </a:r>
            <a:r>
              <a:rPr lang="en-US" sz="2100" spc="35" b="true">
                <a:solidFill>
                  <a:srgbClr val="737373"/>
                </a:solidFill>
                <a:latin typeface="Telegraf Bold"/>
                <a:ea typeface="Telegraf Bold"/>
                <a:cs typeface="Telegraf Bold"/>
                <a:sym typeface="Telegraf Bold"/>
              </a:rPr>
              <a:t>USA, UAE, UK, and Pakistan</a:t>
            </a:r>
            <a:r>
              <a:rPr lang="en-US" sz="2100" spc="35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.</a:t>
            </a:r>
          </a:p>
          <a:p>
            <a:pPr algn="l">
              <a:lnSpc>
                <a:spcPts val="2520"/>
              </a:lnSpc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8587615" y="2137903"/>
            <a:ext cx="8661451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799" spc="47">
                <a:solidFill>
                  <a:srgbClr val="242526"/>
                </a:solidFill>
                <a:latin typeface="Telegraf Bold"/>
                <a:ea typeface="Telegraf Bold"/>
                <a:cs typeface="Telegraf Bold"/>
                <a:sym typeface="Telegraf Bold"/>
              </a:rPr>
              <a:t>Prof</a:t>
            </a:r>
            <a:r>
              <a:rPr lang="en-US" b="true" sz="2799" spc="47" strike="noStrike" u="none">
                <a:solidFill>
                  <a:srgbClr val="242526"/>
                </a:solidFill>
                <a:latin typeface="Telegraf Bold"/>
                <a:ea typeface="Telegraf Bold"/>
                <a:cs typeface="Telegraf Bold"/>
                <a:sym typeface="Telegraf Bold"/>
              </a:rPr>
              <a:t>es</a:t>
            </a:r>
            <a:r>
              <a:rPr lang="en-US" b="true" sz="2799" spc="47" strike="noStrike" u="none">
                <a:solidFill>
                  <a:srgbClr val="242526"/>
                </a:solidFill>
                <a:latin typeface="Telegraf Bold"/>
                <a:ea typeface="Telegraf Bold"/>
                <a:cs typeface="Telegraf Bold"/>
                <a:sym typeface="Telegraf Bold"/>
              </a:rPr>
              <a:t>s</a:t>
            </a:r>
            <a:r>
              <a:rPr lang="en-US" b="true" sz="2799" spc="47" strike="noStrike" u="none">
                <a:solidFill>
                  <a:srgbClr val="242526"/>
                </a:solidFill>
                <a:latin typeface="Telegraf Bold"/>
                <a:ea typeface="Telegraf Bold"/>
                <a:cs typeface="Telegraf Bold"/>
                <a:sym typeface="Telegraf Bold"/>
              </a:rPr>
              <a:t>i</a:t>
            </a:r>
            <a:r>
              <a:rPr lang="en-US" b="true" sz="2799" spc="47" strike="noStrike" u="none">
                <a:solidFill>
                  <a:srgbClr val="242526"/>
                </a:solidFill>
                <a:latin typeface="Telegraf Bold"/>
                <a:ea typeface="Telegraf Bold"/>
                <a:cs typeface="Telegraf Bold"/>
                <a:sym typeface="Telegraf Bold"/>
              </a:rPr>
              <a:t>o</a:t>
            </a:r>
            <a:r>
              <a:rPr lang="en-US" b="true" sz="2799" spc="47" strike="noStrike" u="none">
                <a:solidFill>
                  <a:srgbClr val="242526"/>
                </a:solidFill>
                <a:latin typeface="Telegraf Bold"/>
                <a:ea typeface="Telegraf Bold"/>
                <a:cs typeface="Telegraf Bold"/>
                <a:sym typeface="Telegraf Bold"/>
              </a:rPr>
              <a:t>na</a:t>
            </a:r>
            <a:r>
              <a:rPr lang="en-US" b="true" sz="2799" spc="47" strike="noStrike" u="none">
                <a:solidFill>
                  <a:srgbClr val="242526"/>
                </a:solidFill>
                <a:latin typeface="Telegraf Bold"/>
                <a:ea typeface="Telegraf Bold"/>
                <a:cs typeface="Telegraf Bold"/>
                <a:sym typeface="Telegraf Bold"/>
              </a:rPr>
              <a:t>l</a:t>
            </a:r>
            <a:r>
              <a:rPr lang="en-US" b="true" sz="2799" spc="47" strike="noStrike" u="none">
                <a:solidFill>
                  <a:srgbClr val="242526"/>
                </a:solidFill>
                <a:latin typeface="Telegraf Bold"/>
                <a:ea typeface="Telegraf Bold"/>
                <a:cs typeface="Telegraf Bold"/>
                <a:sym typeface="Telegraf Bold"/>
              </a:rPr>
              <a:t> </a:t>
            </a:r>
            <a:r>
              <a:rPr lang="en-US" b="true" sz="2799" spc="47" strike="noStrike" u="none">
                <a:solidFill>
                  <a:srgbClr val="242526"/>
                </a:solidFill>
                <a:latin typeface="Telegraf Bold"/>
                <a:ea typeface="Telegraf Bold"/>
                <a:cs typeface="Telegraf Bold"/>
                <a:sym typeface="Telegraf Bold"/>
              </a:rPr>
              <a:t>Summ</a:t>
            </a:r>
            <a:r>
              <a:rPr lang="en-US" b="true" sz="2799" spc="47" strike="noStrike" u="none">
                <a:solidFill>
                  <a:srgbClr val="242526"/>
                </a:solidFill>
                <a:latin typeface="Telegraf Bold"/>
                <a:ea typeface="Telegraf Bold"/>
                <a:cs typeface="Telegraf Bold"/>
                <a:sym typeface="Telegraf Bold"/>
              </a:rPr>
              <a:t>a</a:t>
            </a:r>
            <a:r>
              <a:rPr lang="en-US" b="true" sz="2799" spc="47" strike="noStrike" u="none">
                <a:solidFill>
                  <a:srgbClr val="242526"/>
                </a:solidFill>
                <a:latin typeface="Telegraf Bold"/>
                <a:ea typeface="Telegraf Bold"/>
                <a:cs typeface="Telegraf Bold"/>
                <a:sym typeface="Telegraf Bold"/>
              </a:rPr>
              <a:t>ry</a:t>
            </a:r>
            <a:r>
              <a:rPr lang="en-US" b="true" sz="2799" spc="47" strike="noStrike" u="none">
                <a:solidFill>
                  <a:srgbClr val="242526"/>
                </a:solidFill>
                <a:latin typeface="Telegraf Bold"/>
                <a:ea typeface="Telegraf Bold"/>
                <a:cs typeface="Telegraf Bold"/>
                <a:sym typeface="Telegraf Bold"/>
              </a:rPr>
              <a:t>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597140" y="6281278"/>
            <a:ext cx="8661805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2400" spc="40">
                <a:solidFill>
                  <a:srgbClr val="242526"/>
                </a:solidFill>
                <a:latin typeface="Telegraf"/>
                <a:ea typeface="Telegraf"/>
                <a:cs typeface="Telegraf"/>
                <a:sym typeface="Telegraf"/>
              </a:rPr>
              <a:t>Experience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002916" y="7043278"/>
            <a:ext cx="8946019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737373"/>
                </a:solidFill>
                <a:latin typeface="Telegraf Bold"/>
                <a:ea typeface="Telegraf Bold"/>
                <a:cs typeface="Telegraf Bold"/>
                <a:sym typeface="Telegraf Bold"/>
              </a:rPr>
              <a:t>Senior PPC Specialist — Source Code ( Present )</a:t>
            </a:r>
            <a:r>
              <a:rPr lang="en-US" sz="2100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  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I</a:t>
            </a:r>
            <a:r>
              <a:rPr lang="en-US" sz="2100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 Managed end-to-en d PPC strategies &amp; campaigns for 4–5 businesses across niches such as eBook selling, UK academies, and health clinics.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003625" y="8424403"/>
            <a:ext cx="8945310" cy="12912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7"/>
              </a:lnSpc>
            </a:pPr>
            <a:r>
              <a:rPr lang="en-US" sz="2100" b="true">
                <a:solidFill>
                  <a:srgbClr val="737373"/>
                </a:solidFill>
                <a:latin typeface="Telegraf Bold"/>
                <a:ea typeface="Telegraf Bold"/>
                <a:cs typeface="Telegraf Bold"/>
                <a:sym typeface="Telegraf Bold"/>
              </a:rPr>
              <a:t>Senior PPC Specialist — WigaTeach ( 2025 )</a:t>
            </a:r>
            <a:r>
              <a:rPr lang="en-US" sz="2100" b="true">
                <a:solidFill>
                  <a:srgbClr val="737373"/>
                </a:solidFill>
                <a:latin typeface="Telegraf Bold"/>
                <a:ea typeface="Telegraf Bold"/>
                <a:cs typeface="Telegraf Bold"/>
                <a:sym typeface="Telegraf Bold"/>
              </a:rPr>
              <a:t> </a:t>
            </a:r>
          </a:p>
          <a:p>
            <a:pPr algn="l">
              <a:lnSpc>
                <a:spcPts val="2477"/>
              </a:lnSpc>
            </a:pPr>
            <a:r>
              <a:rPr lang="en-US" sz="2100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Managed end-to-end PPC strategies for 3–4 diverse businesses, including animations and leather jackets, focusing on performance optimization, budget allocation, and conversion tracking. 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21872" y="7976099"/>
            <a:ext cx="5223099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spc="47">
                <a:solidFill>
                  <a:srgbClr val="242526"/>
                </a:solidFill>
                <a:latin typeface="Open Sauce"/>
                <a:ea typeface="Open Sauce"/>
                <a:cs typeface="Open Sauce"/>
                <a:sym typeface="Open Sauce"/>
              </a:rPr>
              <a:t>Muhammad Ahmad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21872" y="8538074"/>
            <a:ext cx="5223099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2400" spc="40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Performance Marketing Specialist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9457691" y="3374253"/>
            <a:ext cx="7316246" cy="0"/>
          </a:xfrm>
          <a:prstGeom prst="line">
            <a:avLst/>
          </a:prstGeom>
          <a:ln cap="flat" w="19050">
            <a:solidFill>
              <a:srgbClr val="A6A6A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9457691" y="4435415"/>
            <a:ext cx="7316246" cy="0"/>
          </a:xfrm>
          <a:prstGeom prst="line">
            <a:avLst/>
          </a:prstGeom>
          <a:ln cap="flat" w="19050">
            <a:solidFill>
              <a:srgbClr val="A6A6A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9457691" y="5496577"/>
            <a:ext cx="7316246" cy="0"/>
          </a:xfrm>
          <a:prstGeom prst="line">
            <a:avLst/>
          </a:prstGeom>
          <a:ln cap="flat" w="19050">
            <a:solidFill>
              <a:srgbClr val="A6A6A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9457691" y="6919689"/>
            <a:ext cx="7316246" cy="0"/>
          </a:xfrm>
          <a:prstGeom prst="line">
            <a:avLst/>
          </a:prstGeom>
          <a:ln cap="flat" w="19050">
            <a:solidFill>
              <a:srgbClr val="A6A6A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1028700" y="3803656"/>
            <a:ext cx="7158783" cy="0"/>
          </a:xfrm>
          <a:prstGeom prst="line">
            <a:avLst/>
          </a:prstGeom>
          <a:ln cap="flat" w="19050">
            <a:solidFill>
              <a:srgbClr val="A6A6A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1028700" y="5361673"/>
            <a:ext cx="7158783" cy="0"/>
          </a:xfrm>
          <a:prstGeom prst="line">
            <a:avLst/>
          </a:prstGeom>
          <a:ln cap="flat" w="19050">
            <a:solidFill>
              <a:srgbClr val="A6A6A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1028700" y="6919689"/>
            <a:ext cx="7158783" cy="0"/>
          </a:xfrm>
          <a:prstGeom prst="line">
            <a:avLst/>
          </a:prstGeom>
          <a:ln cap="flat" w="19050">
            <a:solidFill>
              <a:srgbClr val="A6A6A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1028700" y="9207818"/>
            <a:ext cx="16230600" cy="0"/>
          </a:xfrm>
          <a:prstGeom prst="line">
            <a:avLst/>
          </a:prstGeom>
          <a:ln cap="flat" w="19050">
            <a:solidFill>
              <a:srgbClr val="A6A6A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0" id="10"/>
          <p:cNvSpPr/>
          <p:nvPr/>
        </p:nvSpPr>
        <p:spPr>
          <a:xfrm flipH="false" flipV="false" rot="5400000">
            <a:off x="9681085" y="5938007"/>
            <a:ext cx="540253" cy="540253"/>
          </a:xfrm>
          <a:custGeom>
            <a:avLst/>
            <a:gdLst/>
            <a:ahLst/>
            <a:cxnLst/>
            <a:rect r="r" b="b" t="t" l="l"/>
            <a:pathLst>
              <a:path h="540253" w="540253">
                <a:moveTo>
                  <a:pt x="0" y="0"/>
                </a:moveTo>
                <a:lnTo>
                  <a:pt x="540253" y="0"/>
                </a:lnTo>
                <a:lnTo>
                  <a:pt x="540253" y="540253"/>
                </a:lnTo>
                <a:lnTo>
                  <a:pt x="0" y="540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5400000">
            <a:off x="9681085" y="3634708"/>
            <a:ext cx="540253" cy="540253"/>
          </a:xfrm>
          <a:custGeom>
            <a:avLst/>
            <a:gdLst/>
            <a:ahLst/>
            <a:cxnLst/>
            <a:rect r="r" b="b" t="t" l="l"/>
            <a:pathLst>
              <a:path h="540253" w="540253">
                <a:moveTo>
                  <a:pt x="0" y="0"/>
                </a:moveTo>
                <a:lnTo>
                  <a:pt x="540253" y="0"/>
                </a:lnTo>
                <a:lnTo>
                  <a:pt x="540253" y="540253"/>
                </a:lnTo>
                <a:lnTo>
                  <a:pt x="0" y="540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5400000">
            <a:off x="9681085" y="4695870"/>
            <a:ext cx="540253" cy="540253"/>
          </a:xfrm>
          <a:custGeom>
            <a:avLst/>
            <a:gdLst/>
            <a:ahLst/>
            <a:cxnLst/>
            <a:rect r="r" b="b" t="t" l="l"/>
            <a:pathLst>
              <a:path h="540253" w="540253">
                <a:moveTo>
                  <a:pt x="0" y="0"/>
                </a:moveTo>
                <a:lnTo>
                  <a:pt x="540253" y="0"/>
                </a:lnTo>
                <a:lnTo>
                  <a:pt x="540253" y="540253"/>
                </a:lnTo>
                <a:lnTo>
                  <a:pt x="0" y="540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028700" y="2754521"/>
            <a:ext cx="540253" cy="540253"/>
          </a:xfrm>
          <a:custGeom>
            <a:avLst/>
            <a:gdLst/>
            <a:ahLst/>
            <a:cxnLst/>
            <a:rect r="r" b="b" t="t" l="l"/>
            <a:pathLst>
              <a:path h="540253" w="540253">
                <a:moveTo>
                  <a:pt x="0" y="0"/>
                </a:moveTo>
                <a:lnTo>
                  <a:pt x="540253" y="0"/>
                </a:lnTo>
                <a:lnTo>
                  <a:pt x="540253" y="540253"/>
                </a:lnTo>
                <a:lnTo>
                  <a:pt x="0" y="540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9457691" y="1085850"/>
            <a:ext cx="7316246" cy="548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60"/>
              </a:lnSpc>
              <a:spcBef>
                <a:spcPct val="0"/>
              </a:spcBef>
            </a:pPr>
            <a:r>
              <a:rPr lang="en-US" b="true" sz="4000">
                <a:solidFill>
                  <a:srgbClr val="242526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SERVICES PR</a:t>
            </a:r>
            <a:r>
              <a:rPr lang="en-US" b="true" sz="4000" strike="noStrike" u="none">
                <a:solidFill>
                  <a:srgbClr val="242526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OVI</a:t>
            </a:r>
            <a:r>
              <a:rPr lang="en-US" b="true" sz="4000" strike="noStrike" u="none">
                <a:solidFill>
                  <a:srgbClr val="242526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D</a:t>
            </a:r>
            <a:r>
              <a:rPr lang="en-US" b="true" sz="4000" strike="noStrike" u="none">
                <a:solidFill>
                  <a:srgbClr val="242526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ED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688063" y="2623342"/>
            <a:ext cx="6085874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79"/>
              </a:lnSpc>
            </a:pPr>
            <a:r>
              <a:rPr lang="en-US" sz="2400" spc="40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Le</a:t>
            </a:r>
            <a:r>
              <a:rPr lang="en-US" sz="2400" spc="40" strike="noStrike" u="none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a</a:t>
            </a:r>
            <a:r>
              <a:rPr lang="en-US" sz="2400" spc="40" strike="noStrike" u="none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d Generat</a:t>
            </a:r>
            <a:r>
              <a:rPr lang="en-US" sz="2400" spc="40" strike="noStrike" u="none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ion</a:t>
            </a:r>
            <a:r>
              <a:rPr lang="en-US" sz="2400" spc="40" strike="noStrike" u="none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 Campaig</a:t>
            </a:r>
            <a:r>
              <a:rPr lang="en-US" sz="2400" spc="40" strike="noStrike" u="none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ns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688063" y="3695284"/>
            <a:ext cx="6085874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79"/>
              </a:lnSpc>
            </a:pPr>
            <a:r>
              <a:rPr lang="en-US" sz="2400" spc="40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eComme</a:t>
            </a:r>
            <a:r>
              <a:rPr lang="en-US" sz="2400" spc="40" strike="noStrike" u="none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rce Google Ads Management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688063" y="4756446"/>
            <a:ext cx="6085874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79"/>
              </a:lnSpc>
            </a:pPr>
            <a:r>
              <a:rPr lang="en-US" sz="2400" spc="40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Pe</a:t>
            </a:r>
            <a:r>
              <a:rPr lang="en-US" sz="2400" spc="40" strike="noStrike" u="none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rf</a:t>
            </a:r>
            <a:r>
              <a:rPr lang="en-US" sz="2400" spc="40" strike="noStrike" u="none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ormance</a:t>
            </a:r>
            <a:r>
              <a:rPr lang="en-US" sz="2400" spc="40" strike="noStrike" u="none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 Max</a:t>
            </a:r>
            <a:r>
              <a:rPr lang="en-US" sz="2400" spc="40" strike="noStrike" u="none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 Campa</a:t>
            </a:r>
            <a:r>
              <a:rPr lang="en-US" sz="2400" spc="40" strike="noStrike" u="none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igns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688063" y="5817608"/>
            <a:ext cx="6085874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spc="40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Remarketing Campaigns </a:t>
            </a:r>
          </a:p>
          <a:p>
            <a:pPr algn="l" marL="0" indent="0" lvl="0">
              <a:lnSpc>
                <a:spcPts val="2879"/>
              </a:lnSpc>
            </a:pPr>
            <a:r>
              <a:rPr lang="en-US" sz="2400" spc="40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Conversion Tracking Setup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28700" y="8001000"/>
            <a:ext cx="14964976" cy="954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 b="true">
                <a:solidFill>
                  <a:srgbClr val="242526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EXPERTISE &amp; OFFERINGS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28700" y="1085850"/>
            <a:ext cx="7521146" cy="548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60"/>
              </a:lnSpc>
              <a:spcBef>
                <a:spcPct val="0"/>
              </a:spcBef>
            </a:pPr>
            <a:r>
              <a:rPr lang="en-US" b="true" sz="4000">
                <a:solidFill>
                  <a:srgbClr val="242526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KEY SKILLS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974476" y="2634123"/>
            <a:ext cx="6177684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79"/>
              </a:lnSpc>
            </a:pPr>
            <a:r>
              <a:rPr lang="en-US" sz="2400" spc="40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Goo</a:t>
            </a:r>
            <a:r>
              <a:rPr lang="en-US" sz="2400" spc="40" strike="noStrike" u="none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gle Ads</a:t>
            </a:r>
            <a:r>
              <a:rPr lang="en-US" sz="2400" spc="40" strike="noStrike" u="none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 Campa</a:t>
            </a:r>
            <a:r>
              <a:rPr lang="en-US" sz="2400" spc="40" strike="noStrike" u="none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ig</a:t>
            </a:r>
            <a:r>
              <a:rPr lang="en-US" sz="2400" spc="40" strike="noStrike" u="none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n</a:t>
            </a:r>
            <a:r>
              <a:rPr lang="en-US" sz="2400" spc="40" strike="noStrike" u="none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 Strategy</a:t>
            </a:r>
            <a:r>
              <a:rPr lang="en-US" sz="2400" spc="40" strike="noStrike" u="none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 &amp;</a:t>
            </a:r>
            <a:r>
              <a:rPr lang="en-US" sz="2400" spc="40" strike="noStrike" u="none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 P</a:t>
            </a:r>
            <a:r>
              <a:rPr lang="en-US" sz="2400" spc="40" strike="noStrike" u="none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l</a:t>
            </a:r>
            <a:r>
              <a:rPr lang="en-US" sz="2400" spc="40" strike="noStrike" u="none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anning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009799" y="4192139"/>
            <a:ext cx="6177684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79"/>
              </a:lnSpc>
            </a:pPr>
            <a:r>
              <a:rPr lang="en-US" sz="2400" spc="40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Se</a:t>
            </a:r>
            <a:r>
              <a:rPr lang="en-US" sz="2400" spc="40" strike="noStrike" u="none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a</a:t>
            </a:r>
            <a:r>
              <a:rPr lang="en-US" sz="2400" spc="40" strike="noStrike" u="none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rch, D</a:t>
            </a:r>
            <a:r>
              <a:rPr lang="en-US" sz="2400" spc="40" strike="noStrike" u="none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i</a:t>
            </a:r>
            <a:r>
              <a:rPr lang="en-US" sz="2400" spc="40" strike="noStrike" u="none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splay, Shopp</a:t>
            </a:r>
            <a:r>
              <a:rPr lang="en-US" sz="2400" spc="40" strike="noStrike" u="none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ing &amp;</a:t>
            </a:r>
            <a:r>
              <a:rPr lang="en-US" sz="2400" spc="40" strike="noStrike" u="none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 Performance</a:t>
            </a:r>
            <a:r>
              <a:rPr lang="en-US" sz="2400" spc="40" strike="noStrike" u="none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 Max</a:t>
            </a:r>
            <a:r>
              <a:rPr lang="en-US" sz="2400" spc="40" strike="noStrike" u="none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 Cam</a:t>
            </a:r>
            <a:r>
              <a:rPr lang="en-US" sz="2400" spc="40" strike="noStrike" u="none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pa</a:t>
            </a:r>
            <a:r>
              <a:rPr lang="en-US" sz="2400" spc="40" strike="noStrike" u="none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ig</a:t>
            </a:r>
            <a:r>
              <a:rPr lang="en-US" sz="2400" spc="40" strike="noStrike" u="none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ns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009799" y="5750156"/>
            <a:ext cx="6177684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79"/>
              </a:lnSpc>
            </a:pPr>
            <a:r>
              <a:rPr lang="en-US" sz="2400" spc="40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Conv</a:t>
            </a:r>
            <a:r>
              <a:rPr lang="en-US" sz="2400" spc="40" strike="noStrike" u="none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ersi</a:t>
            </a:r>
            <a:r>
              <a:rPr lang="en-US" sz="2400" spc="40" strike="noStrike" u="none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o</a:t>
            </a:r>
            <a:r>
              <a:rPr lang="en-US" sz="2400" spc="40" strike="noStrike" u="none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n Trac</a:t>
            </a:r>
            <a:r>
              <a:rPr lang="en-US" sz="2400" spc="40" strike="noStrike" u="none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k</a:t>
            </a:r>
            <a:r>
              <a:rPr lang="en-US" sz="2400" spc="40" strike="noStrike" u="none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ing (GA4, </a:t>
            </a:r>
            <a:r>
              <a:rPr lang="en-US" sz="2400" spc="40" strike="noStrike" u="none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G</a:t>
            </a:r>
            <a:r>
              <a:rPr lang="en-US" sz="2400" spc="40" strike="noStrike" u="none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oogle Tag Manage</a:t>
            </a:r>
            <a:r>
              <a:rPr lang="en-US" sz="2400" spc="40" strike="noStrike" u="none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r)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1028700" y="4313243"/>
            <a:ext cx="540253" cy="540253"/>
          </a:xfrm>
          <a:custGeom>
            <a:avLst/>
            <a:gdLst/>
            <a:ahLst/>
            <a:cxnLst/>
            <a:rect r="r" b="b" t="t" l="l"/>
            <a:pathLst>
              <a:path h="540253" w="540253">
                <a:moveTo>
                  <a:pt x="0" y="0"/>
                </a:moveTo>
                <a:lnTo>
                  <a:pt x="540253" y="0"/>
                </a:lnTo>
                <a:lnTo>
                  <a:pt x="540253" y="540254"/>
                </a:lnTo>
                <a:lnTo>
                  <a:pt x="0" y="5402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028700" y="5871260"/>
            <a:ext cx="540253" cy="540253"/>
          </a:xfrm>
          <a:custGeom>
            <a:avLst/>
            <a:gdLst/>
            <a:ahLst/>
            <a:cxnLst/>
            <a:rect r="r" b="b" t="t" l="l"/>
            <a:pathLst>
              <a:path h="540253" w="540253">
                <a:moveTo>
                  <a:pt x="0" y="0"/>
                </a:moveTo>
                <a:lnTo>
                  <a:pt x="540253" y="0"/>
                </a:lnTo>
                <a:lnTo>
                  <a:pt x="540253" y="540254"/>
                </a:lnTo>
                <a:lnTo>
                  <a:pt x="0" y="5402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5400000">
            <a:off x="9681085" y="2562766"/>
            <a:ext cx="540253" cy="540253"/>
          </a:xfrm>
          <a:custGeom>
            <a:avLst/>
            <a:gdLst/>
            <a:ahLst/>
            <a:cxnLst/>
            <a:rect r="r" b="b" t="t" l="l"/>
            <a:pathLst>
              <a:path h="540253" w="540253">
                <a:moveTo>
                  <a:pt x="0" y="0"/>
                </a:moveTo>
                <a:lnTo>
                  <a:pt x="540253" y="0"/>
                </a:lnTo>
                <a:lnTo>
                  <a:pt x="540253" y="540253"/>
                </a:lnTo>
                <a:lnTo>
                  <a:pt x="0" y="540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E2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1050514"/>
            <a:ext cx="16230600" cy="0"/>
          </a:xfrm>
          <a:prstGeom prst="line">
            <a:avLst/>
          </a:prstGeom>
          <a:ln cap="flat" w="19050">
            <a:solidFill>
              <a:srgbClr val="A6A6A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829856" y="1240114"/>
            <a:ext cx="16429444" cy="3005748"/>
            <a:chOff x="0" y="0"/>
            <a:chExt cx="2290804" cy="4191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90804" cy="419100"/>
            </a:xfrm>
            <a:custGeom>
              <a:avLst/>
              <a:gdLst/>
              <a:ahLst/>
              <a:cxnLst/>
              <a:rect r="r" b="b" t="t" l="l"/>
              <a:pathLst>
                <a:path h="419100" w="2290804">
                  <a:moveTo>
                    <a:pt x="9204" y="0"/>
                  </a:moveTo>
                  <a:lnTo>
                    <a:pt x="2281601" y="0"/>
                  </a:lnTo>
                  <a:cubicBezTo>
                    <a:pt x="2284042" y="0"/>
                    <a:pt x="2286383" y="970"/>
                    <a:pt x="2288109" y="2696"/>
                  </a:cubicBezTo>
                  <a:cubicBezTo>
                    <a:pt x="2289835" y="4422"/>
                    <a:pt x="2290804" y="6763"/>
                    <a:pt x="2290804" y="9204"/>
                  </a:cubicBezTo>
                  <a:lnTo>
                    <a:pt x="2290804" y="409896"/>
                  </a:lnTo>
                  <a:cubicBezTo>
                    <a:pt x="2290804" y="414979"/>
                    <a:pt x="2286684" y="419100"/>
                    <a:pt x="2281601" y="419100"/>
                  </a:cubicBezTo>
                  <a:lnTo>
                    <a:pt x="9204" y="419100"/>
                  </a:lnTo>
                  <a:cubicBezTo>
                    <a:pt x="6763" y="419100"/>
                    <a:pt x="4422" y="418130"/>
                    <a:pt x="2696" y="416404"/>
                  </a:cubicBezTo>
                  <a:cubicBezTo>
                    <a:pt x="970" y="414678"/>
                    <a:pt x="0" y="412337"/>
                    <a:pt x="0" y="409896"/>
                  </a:cubicBezTo>
                  <a:lnTo>
                    <a:pt x="0" y="9204"/>
                  </a:lnTo>
                  <a:cubicBezTo>
                    <a:pt x="0" y="6763"/>
                    <a:pt x="970" y="4422"/>
                    <a:pt x="2696" y="2696"/>
                  </a:cubicBezTo>
                  <a:cubicBezTo>
                    <a:pt x="4422" y="970"/>
                    <a:pt x="6763" y="0"/>
                    <a:pt x="9204" y="0"/>
                  </a:cubicBezTo>
                  <a:close/>
                </a:path>
              </a:pathLst>
            </a:custGeom>
            <a:solidFill>
              <a:srgbClr val="545454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2290804" cy="447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028700" y="1382958"/>
            <a:ext cx="6533067" cy="2745254"/>
          </a:xfrm>
          <a:custGeom>
            <a:avLst/>
            <a:gdLst/>
            <a:ahLst/>
            <a:cxnLst/>
            <a:rect r="r" b="b" t="t" l="l"/>
            <a:pathLst>
              <a:path h="2745254" w="6533067">
                <a:moveTo>
                  <a:pt x="0" y="0"/>
                </a:moveTo>
                <a:lnTo>
                  <a:pt x="6533067" y="0"/>
                </a:lnTo>
                <a:lnTo>
                  <a:pt x="6533067" y="2745254"/>
                </a:lnTo>
                <a:lnTo>
                  <a:pt x="0" y="27452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829856" y="4398262"/>
            <a:ext cx="16429444" cy="3005748"/>
            <a:chOff x="0" y="0"/>
            <a:chExt cx="2290804" cy="4191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90804" cy="419100"/>
            </a:xfrm>
            <a:custGeom>
              <a:avLst/>
              <a:gdLst/>
              <a:ahLst/>
              <a:cxnLst/>
              <a:rect r="r" b="b" t="t" l="l"/>
              <a:pathLst>
                <a:path h="419100" w="2290804">
                  <a:moveTo>
                    <a:pt x="9204" y="0"/>
                  </a:moveTo>
                  <a:lnTo>
                    <a:pt x="2281601" y="0"/>
                  </a:lnTo>
                  <a:cubicBezTo>
                    <a:pt x="2284042" y="0"/>
                    <a:pt x="2286383" y="970"/>
                    <a:pt x="2288109" y="2696"/>
                  </a:cubicBezTo>
                  <a:cubicBezTo>
                    <a:pt x="2289835" y="4422"/>
                    <a:pt x="2290804" y="6763"/>
                    <a:pt x="2290804" y="9204"/>
                  </a:cubicBezTo>
                  <a:lnTo>
                    <a:pt x="2290804" y="409896"/>
                  </a:lnTo>
                  <a:cubicBezTo>
                    <a:pt x="2290804" y="414979"/>
                    <a:pt x="2286684" y="419100"/>
                    <a:pt x="2281601" y="419100"/>
                  </a:cubicBezTo>
                  <a:lnTo>
                    <a:pt x="9204" y="419100"/>
                  </a:lnTo>
                  <a:cubicBezTo>
                    <a:pt x="6763" y="419100"/>
                    <a:pt x="4422" y="418130"/>
                    <a:pt x="2696" y="416404"/>
                  </a:cubicBezTo>
                  <a:cubicBezTo>
                    <a:pt x="970" y="414678"/>
                    <a:pt x="0" y="412337"/>
                    <a:pt x="0" y="409896"/>
                  </a:cubicBezTo>
                  <a:lnTo>
                    <a:pt x="0" y="9204"/>
                  </a:lnTo>
                  <a:cubicBezTo>
                    <a:pt x="0" y="6763"/>
                    <a:pt x="970" y="4422"/>
                    <a:pt x="2696" y="2696"/>
                  </a:cubicBezTo>
                  <a:cubicBezTo>
                    <a:pt x="4422" y="970"/>
                    <a:pt x="6763" y="0"/>
                    <a:pt x="9204" y="0"/>
                  </a:cubicBezTo>
                  <a:close/>
                </a:path>
              </a:pathLst>
            </a:custGeom>
            <a:solidFill>
              <a:srgbClr val="545454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2290804" cy="447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63181" y="7670709"/>
            <a:ext cx="16429444" cy="3005748"/>
            <a:chOff x="0" y="0"/>
            <a:chExt cx="2290804" cy="4191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90804" cy="419100"/>
            </a:xfrm>
            <a:custGeom>
              <a:avLst/>
              <a:gdLst/>
              <a:ahLst/>
              <a:cxnLst/>
              <a:rect r="r" b="b" t="t" l="l"/>
              <a:pathLst>
                <a:path h="419100" w="2290804">
                  <a:moveTo>
                    <a:pt x="9204" y="0"/>
                  </a:moveTo>
                  <a:lnTo>
                    <a:pt x="2281601" y="0"/>
                  </a:lnTo>
                  <a:cubicBezTo>
                    <a:pt x="2284042" y="0"/>
                    <a:pt x="2286383" y="970"/>
                    <a:pt x="2288109" y="2696"/>
                  </a:cubicBezTo>
                  <a:cubicBezTo>
                    <a:pt x="2289835" y="4422"/>
                    <a:pt x="2290804" y="6763"/>
                    <a:pt x="2290804" y="9204"/>
                  </a:cubicBezTo>
                  <a:lnTo>
                    <a:pt x="2290804" y="409896"/>
                  </a:lnTo>
                  <a:cubicBezTo>
                    <a:pt x="2290804" y="414979"/>
                    <a:pt x="2286684" y="419100"/>
                    <a:pt x="2281601" y="419100"/>
                  </a:cubicBezTo>
                  <a:lnTo>
                    <a:pt x="9204" y="419100"/>
                  </a:lnTo>
                  <a:cubicBezTo>
                    <a:pt x="6763" y="419100"/>
                    <a:pt x="4422" y="418130"/>
                    <a:pt x="2696" y="416404"/>
                  </a:cubicBezTo>
                  <a:cubicBezTo>
                    <a:pt x="970" y="414678"/>
                    <a:pt x="0" y="412337"/>
                    <a:pt x="0" y="409896"/>
                  </a:cubicBezTo>
                  <a:lnTo>
                    <a:pt x="0" y="9204"/>
                  </a:lnTo>
                  <a:cubicBezTo>
                    <a:pt x="0" y="6763"/>
                    <a:pt x="970" y="4422"/>
                    <a:pt x="2696" y="2696"/>
                  </a:cubicBezTo>
                  <a:cubicBezTo>
                    <a:pt x="4422" y="970"/>
                    <a:pt x="6763" y="0"/>
                    <a:pt x="9204" y="0"/>
                  </a:cubicBezTo>
                  <a:close/>
                </a:path>
              </a:pathLst>
            </a:custGeom>
            <a:solidFill>
              <a:srgbClr val="545454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2290804" cy="447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028700" y="4571732"/>
            <a:ext cx="6533067" cy="2658806"/>
          </a:xfrm>
          <a:custGeom>
            <a:avLst/>
            <a:gdLst/>
            <a:ahLst/>
            <a:cxnLst/>
            <a:rect r="r" b="b" t="t" l="l"/>
            <a:pathLst>
              <a:path h="2658806" w="6533067">
                <a:moveTo>
                  <a:pt x="0" y="0"/>
                </a:moveTo>
                <a:lnTo>
                  <a:pt x="6533067" y="0"/>
                </a:lnTo>
                <a:lnTo>
                  <a:pt x="6533067" y="2658807"/>
                </a:lnTo>
                <a:lnTo>
                  <a:pt x="0" y="26588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829856" y="7813553"/>
            <a:ext cx="6593668" cy="2323361"/>
          </a:xfrm>
          <a:custGeom>
            <a:avLst/>
            <a:gdLst/>
            <a:ahLst/>
            <a:cxnLst/>
            <a:rect r="r" b="b" t="t" l="l"/>
            <a:pathLst>
              <a:path h="2323361" w="6593668">
                <a:moveTo>
                  <a:pt x="0" y="0"/>
                </a:moveTo>
                <a:lnTo>
                  <a:pt x="6593668" y="0"/>
                </a:lnTo>
                <a:lnTo>
                  <a:pt x="6593668" y="2323361"/>
                </a:lnTo>
                <a:lnTo>
                  <a:pt x="0" y="23233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0171" t="-143183" r="-11887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3610024" y="617444"/>
            <a:ext cx="3649276" cy="404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799"/>
              </a:lnSpc>
              <a:spcBef>
                <a:spcPct val="0"/>
              </a:spcBef>
            </a:pPr>
            <a:r>
              <a:rPr lang="en-US" sz="2799" strike="noStrike" u="none">
                <a:solidFill>
                  <a:srgbClr val="545454"/>
                </a:solidFill>
                <a:latin typeface="Telegraf"/>
                <a:ea typeface="Telegraf"/>
                <a:cs typeface="Telegraf"/>
                <a:sym typeface="Telegraf"/>
              </a:rPr>
              <a:t>Selected works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389552"/>
            <a:ext cx="3661372" cy="670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25"/>
              </a:lnSpc>
            </a:pPr>
            <a:r>
              <a:rPr lang="en-US" sz="5025" b="true">
                <a:solidFill>
                  <a:srgbClr val="242526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OVERVIEW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689043" y="1297233"/>
            <a:ext cx="4280167" cy="778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40"/>
              </a:lnSpc>
            </a:pPr>
            <a:r>
              <a:rPr lang="en-US" sz="46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Fit Out Design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89043" y="2202231"/>
            <a:ext cx="9503582" cy="1812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3"/>
              </a:lnSpc>
            </a:pPr>
            <a:r>
              <a:rPr lang="en-US" sz="176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Successfully managed a Google Ads Lead Generation Campaign for MD Design &amp; Fit Out, a Dubai-based interior design company, delivering strong performance within the campaign period.</a:t>
            </a:r>
          </a:p>
          <a:p>
            <a:pPr algn="l">
              <a:lnSpc>
                <a:spcPts val="2473"/>
              </a:lnSpc>
            </a:pPr>
          </a:p>
          <a:p>
            <a:pPr algn="l">
              <a:lnSpc>
                <a:spcPts val="2473"/>
              </a:lnSpc>
            </a:pPr>
            <a:r>
              <a:rPr lang="en-US" sz="176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Campaign Performance:</a:t>
            </a:r>
          </a:p>
          <a:p>
            <a:pPr algn="l" marL="381463" indent="-190731" lvl="1">
              <a:lnSpc>
                <a:spcPts val="2473"/>
              </a:lnSpc>
              <a:buFont typeface="Arial"/>
              <a:buChar char="•"/>
            </a:pPr>
            <a:r>
              <a:rPr lang="en-US" sz="176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Clicks: 1.72K,  Impressions: 29.8K,  Conversions (Leads): 109,  Average CPC: AED 1.75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89043" y="4455380"/>
            <a:ext cx="1454957" cy="778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40"/>
              </a:lnSpc>
            </a:pPr>
            <a:r>
              <a:rPr lang="en-US" sz="46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RSP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689043" y="5277875"/>
            <a:ext cx="9503582" cy="2263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3"/>
              </a:lnSpc>
            </a:pPr>
            <a:r>
              <a:rPr lang="en-US" sz="176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Successfully managed a Google Ads Responsive Search Ads (RSA) Campaign, focused on generating high-quality leads while maximizing conversion efficiency through AI-powered ad optimization.</a:t>
            </a:r>
          </a:p>
          <a:p>
            <a:pPr algn="l">
              <a:lnSpc>
                <a:spcPts val="793"/>
              </a:lnSpc>
            </a:pPr>
          </a:p>
          <a:p>
            <a:pPr algn="l">
              <a:lnSpc>
                <a:spcPts val="2473"/>
              </a:lnSpc>
            </a:pPr>
            <a:r>
              <a:rPr lang="en-US" sz="176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Campaign Performance:</a:t>
            </a:r>
          </a:p>
          <a:p>
            <a:pPr algn="l" marL="381463" indent="-190732" lvl="1">
              <a:lnSpc>
                <a:spcPts val="2473"/>
              </a:lnSpc>
              <a:buFont typeface="Arial"/>
              <a:buChar char="•"/>
            </a:pPr>
            <a:r>
              <a:rPr lang="en-US" sz="176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Clicks: 468,  Conversions (Local Actions): 148,  Conversion Rate: 31.62%</a:t>
            </a:r>
          </a:p>
          <a:p>
            <a:pPr algn="l" marL="381463" indent="-190732" lvl="1">
              <a:lnSpc>
                <a:spcPts val="2473"/>
              </a:lnSpc>
              <a:buFont typeface="Arial"/>
              <a:buChar char="•"/>
            </a:pPr>
            <a:r>
              <a:rPr lang="en-US" sz="176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Cost per Conversion: $1.43</a:t>
            </a:r>
          </a:p>
          <a:p>
            <a:pPr algn="l">
              <a:lnSpc>
                <a:spcPts val="2473"/>
              </a:lnSpc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7542717" y="7670709"/>
            <a:ext cx="3548113" cy="537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Mystorypublisher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561767" y="8262566"/>
            <a:ext cx="9630858" cy="1930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3"/>
              </a:lnSpc>
            </a:pPr>
            <a:r>
              <a:rPr lang="en-US" sz="176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Successfully managed a Google Ads eBook Lead Generation Campaign, focused on generating high-quality leads through downloadable eBook offers while maintaining an excellent cost per conversion.</a:t>
            </a:r>
          </a:p>
          <a:p>
            <a:pPr algn="l">
              <a:lnSpc>
                <a:spcPts val="653"/>
              </a:lnSpc>
            </a:pPr>
          </a:p>
          <a:p>
            <a:pPr algn="l">
              <a:lnSpc>
                <a:spcPts val="2473"/>
              </a:lnSpc>
            </a:pPr>
            <a:r>
              <a:rPr lang="en-US" sz="176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Campaign Performance:</a:t>
            </a:r>
          </a:p>
          <a:p>
            <a:pPr algn="l" marL="381463" indent="-190732" lvl="1">
              <a:lnSpc>
                <a:spcPts val="2473"/>
              </a:lnSpc>
              <a:buFont typeface="Arial"/>
              <a:buChar char="•"/>
            </a:pPr>
            <a:r>
              <a:rPr lang="en-US" sz="176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Clicks: 468,  Local Actions / Conversions: 148,  Conversion Rate: 31.62%,  Cost per Conversion: $1.43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2317339"/>
            <a:ext cx="10561366" cy="0"/>
          </a:xfrm>
          <a:prstGeom prst="line">
            <a:avLst/>
          </a:prstGeom>
          <a:ln cap="flat" w="19050">
            <a:solidFill>
              <a:srgbClr val="A6A6A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028700" y="2784064"/>
            <a:ext cx="16230600" cy="6474236"/>
            <a:chOff x="0" y="0"/>
            <a:chExt cx="4274726" cy="170514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4726" cy="1705148"/>
            </a:xfrm>
            <a:custGeom>
              <a:avLst/>
              <a:gdLst/>
              <a:ahLst/>
              <a:cxnLst/>
              <a:rect r="r" b="b" t="t" l="l"/>
              <a:pathLst>
                <a:path h="1705148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1705148"/>
                  </a:lnTo>
                  <a:lnTo>
                    <a:pt x="0" y="1705148"/>
                  </a:lnTo>
                  <a:close/>
                </a:path>
              </a:pathLst>
            </a:custGeom>
            <a:solidFill>
              <a:srgbClr val="DFE2E6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76200"/>
              <a:ext cx="4274726" cy="17813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244224" y="3027477"/>
            <a:ext cx="4170792" cy="3586426"/>
            <a:chOff x="0" y="0"/>
            <a:chExt cx="738043" cy="63463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38043" cy="634637"/>
            </a:xfrm>
            <a:custGeom>
              <a:avLst/>
              <a:gdLst/>
              <a:ahLst/>
              <a:cxnLst/>
              <a:rect r="r" b="b" t="t" l="l"/>
              <a:pathLst>
                <a:path h="634637" w="738043">
                  <a:moveTo>
                    <a:pt x="0" y="0"/>
                  </a:moveTo>
                  <a:lnTo>
                    <a:pt x="738043" y="0"/>
                  </a:lnTo>
                  <a:lnTo>
                    <a:pt x="738043" y="634637"/>
                  </a:lnTo>
                  <a:lnTo>
                    <a:pt x="0" y="634637"/>
                  </a:lnTo>
                  <a:close/>
                </a:path>
              </a:pathLst>
            </a:custGeom>
            <a:solidFill>
              <a:srgbClr val="EFF1F4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76200"/>
              <a:ext cx="738043" cy="7108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44224" y="6835546"/>
            <a:ext cx="4170792" cy="2223732"/>
            <a:chOff x="0" y="0"/>
            <a:chExt cx="689118" cy="36741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89117" cy="367415"/>
            </a:xfrm>
            <a:custGeom>
              <a:avLst/>
              <a:gdLst/>
              <a:ahLst/>
              <a:cxnLst/>
              <a:rect r="r" b="b" t="t" l="l"/>
              <a:pathLst>
                <a:path h="367415" w="689117">
                  <a:moveTo>
                    <a:pt x="0" y="0"/>
                  </a:moveTo>
                  <a:lnTo>
                    <a:pt x="689117" y="0"/>
                  </a:lnTo>
                  <a:lnTo>
                    <a:pt x="689117" y="367415"/>
                  </a:lnTo>
                  <a:lnTo>
                    <a:pt x="0" y="367415"/>
                  </a:lnTo>
                  <a:close/>
                </a:path>
              </a:pathLst>
            </a:custGeom>
            <a:blipFill>
              <a:blip r:embed="rId2"/>
              <a:stretch>
                <a:fillRect l="0" t="-26775" r="0" b="-39943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5646574" y="3027477"/>
            <a:ext cx="3262046" cy="6031801"/>
            <a:chOff x="0" y="0"/>
            <a:chExt cx="538970" cy="99660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8970" cy="996602"/>
            </a:xfrm>
            <a:custGeom>
              <a:avLst/>
              <a:gdLst/>
              <a:ahLst/>
              <a:cxnLst/>
              <a:rect r="r" b="b" t="t" l="l"/>
              <a:pathLst>
                <a:path h="996602" w="538970">
                  <a:moveTo>
                    <a:pt x="0" y="0"/>
                  </a:moveTo>
                  <a:lnTo>
                    <a:pt x="538970" y="0"/>
                  </a:lnTo>
                  <a:lnTo>
                    <a:pt x="538970" y="996602"/>
                  </a:lnTo>
                  <a:lnTo>
                    <a:pt x="0" y="996602"/>
                  </a:lnTo>
                  <a:close/>
                </a:path>
              </a:pathLst>
            </a:custGeom>
            <a:blipFill>
              <a:blip r:embed="rId3"/>
              <a:stretch>
                <a:fillRect l="-6507" t="0" r="-6507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148376" y="5472852"/>
            <a:ext cx="2731746" cy="3586426"/>
            <a:chOff x="0" y="0"/>
            <a:chExt cx="423219" cy="55563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23219" cy="555631"/>
            </a:xfrm>
            <a:custGeom>
              <a:avLst/>
              <a:gdLst/>
              <a:ahLst/>
              <a:cxnLst/>
              <a:rect r="r" b="b" t="t" l="l"/>
              <a:pathLst>
                <a:path h="555631" w="423219">
                  <a:moveTo>
                    <a:pt x="0" y="0"/>
                  </a:moveTo>
                  <a:lnTo>
                    <a:pt x="423219" y="0"/>
                  </a:lnTo>
                  <a:lnTo>
                    <a:pt x="423219" y="555631"/>
                  </a:lnTo>
                  <a:lnTo>
                    <a:pt x="0" y="555631"/>
                  </a:lnTo>
                  <a:close/>
                </a:path>
              </a:pathLst>
            </a:custGeom>
            <a:blipFill>
              <a:blip r:embed="rId4"/>
              <a:stretch>
                <a:fillRect l="-66699" t="0" r="-66699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148376" y="3063465"/>
            <a:ext cx="2731746" cy="2178237"/>
            <a:chOff x="0" y="0"/>
            <a:chExt cx="423219" cy="33746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23219" cy="337466"/>
            </a:xfrm>
            <a:custGeom>
              <a:avLst/>
              <a:gdLst/>
              <a:ahLst/>
              <a:cxnLst/>
              <a:rect r="r" b="b" t="t" l="l"/>
              <a:pathLst>
                <a:path h="337466" w="423219">
                  <a:moveTo>
                    <a:pt x="0" y="0"/>
                  </a:moveTo>
                  <a:lnTo>
                    <a:pt x="423219" y="0"/>
                  </a:lnTo>
                  <a:lnTo>
                    <a:pt x="423219" y="337466"/>
                  </a:lnTo>
                  <a:lnTo>
                    <a:pt x="0" y="337466"/>
                  </a:lnTo>
                  <a:close/>
                </a:path>
              </a:pathLst>
            </a:custGeom>
            <a:blipFill>
              <a:blip r:embed="rId5"/>
              <a:stretch>
                <a:fillRect l="0" t="-12705" r="0" b="-12705"/>
              </a:stretch>
            </a:blipFill>
          </p:spPr>
        </p:sp>
      </p:grpSp>
      <p:sp>
        <p:nvSpPr>
          <p:cNvPr name="Freeform 17" id="17"/>
          <p:cNvSpPr/>
          <p:nvPr/>
        </p:nvSpPr>
        <p:spPr>
          <a:xfrm flipH="false" flipV="false" rot="0">
            <a:off x="11984898" y="3027477"/>
            <a:ext cx="5141052" cy="3026366"/>
          </a:xfrm>
          <a:custGeom>
            <a:avLst/>
            <a:gdLst/>
            <a:ahLst/>
            <a:cxnLst/>
            <a:rect r="r" b="b" t="t" l="l"/>
            <a:pathLst>
              <a:path h="3026366" w="5141052">
                <a:moveTo>
                  <a:pt x="0" y="0"/>
                </a:moveTo>
                <a:lnTo>
                  <a:pt x="5141052" y="0"/>
                </a:lnTo>
                <a:lnTo>
                  <a:pt x="5141052" y="3026366"/>
                </a:lnTo>
                <a:lnTo>
                  <a:pt x="0" y="302636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395154" y="3138002"/>
            <a:ext cx="3868933" cy="1014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 spc="47">
                <a:solidFill>
                  <a:srgbClr val="242526"/>
                </a:solidFill>
                <a:latin typeface="Telegraf"/>
                <a:ea typeface="Telegraf"/>
                <a:cs typeface="Telegraf"/>
                <a:sym typeface="Telegraf"/>
              </a:rPr>
              <a:t>Pe</a:t>
            </a:r>
            <a:r>
              <a:rPr lang="en-US" sz="2799" spc="47" strike="noStrike" u="none">
                <a:solidFill>
                  <a:srgbClr val="242526"/>
                </a:solidFill>
                <a:latin typeface="Telegraf"/>
                <a:ea typeface="Telegraf"/>
                <a:cs typeface="Telegraf"/>
                <a:sym typeface="Telegraf"/>
              </a:rPr>
              <a:t>r</a:t>
            </a:r>
            <a:r>
              <a:rPr lang="en-US" sz="2799" spc="47" strike="noStrike" u="none">
                <a:solidFill>
                  <a:srgbClr val="242526"/>
                </a:solidFill>
                <a:latin typeface="Telegraf"/>
                <a:ea typeface="Telegraf"/>
                <a:cs typeface="Telegraf"/>
                <a:sym typeface="Telegraf"/>
              </a:rPr>
              <a:t>f</a:t>
            </a:r>
            <a:r>
              <a:rPr lang="en-US" sz="2799" spc="47" strike="noStrike" u="none">
                <a:solidFill>
                  <a:srgbClr val="242526"/>
                </a:solidFill>
                <a:latin typeface="Telegraf"/>
                <a:ea typeface="Telegraf"/>
                <a:cs typeface="Telegraf"/>
                <a:sym typeface="Telegraf"/>
              </a:rPr>
              <a:t>o</a:t>
            </a:r>
            <a:r>
              <a:rPr lang="en-US" sz="2799" spc="47" strike="noStrike" u="none">
                <a:solidFill>
                  <a:srgbClr val="242526"/>
                </a:solidFill>
                <a:latin typeface="Telegraf"/>
                <a:ea typeface="Telegraf"/>
                <a:cs typeface="Telegraf"/>
                <a:sym typeface="Telegraf"/>
              </a:rPr>
              <a:t>r</a:t>
            </a:r>
            <a:r>
              <a:rPr lang="en-US" sz="2799" spc="47" strike="noStrike" u="none">
                <a:solidFill>
                  <a:srgbClr val="242526"/>
                </a:solidFill>
                <a:latin typeface="Telegraf"/>
                <a:ea typeface="Telegraf"/>
                <a:cs typeface="Telegraf"/>
                <a:sym typeface="Telegraf"/>
              </a:rPr>
              <a:t>m</a:t>
            </a:r>
            <a:r>
              <a:rPr lang="en-US" sz="2799" spc="47" strike="noStrike" u="none">
                <a:solidFill>
                  <a:srgbClr val="242526"/>
                </a:solidFill>
                <a:latin typeface="Telegraf"/>
                <a:ea typeface="Telegraf"/>
                <a:cs typeface="Telegraf"/>
                <a:sym typeface="Telegraf"/>
              </a:rPr>
              <a:t>ance</a:t>
            </a:r>
            <a:r>
              <a:rPr lang="en-US" sz="2799" spc="47" strike="noStrike" u="none">
                <a:solidFill>
                  <a:srgbClr val="242526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799" spc="47" strike="noStrike" u="none">
                <a:solidFill>
                  <a:srgbClr val="242526"/>
                </a:solidFill>
                <a:latin typeface="Telegraf"/>
                <a:ea typeface="Telegraf"/>
                <a:cs typeface="Telegraf"/>
                <a:sym typeface="Telegraf"/>
              </a:rPr>
              <a:t>Mark</a:t>
            </a:r>
            <a:r>
              <a:rPr lang="en-US" sz="2799" spc="47" strike="noStrike" u="none">
                <a:solidFill>
                  <a:srgbClr val="242526"/>
                </a:solidFill>
                <a:latin typeface="Telegraf"/>
                <a:ea typeface="Telegraf"/>
                <a:cs typeface="Telegraf"/>
                <a:sym typeface="Telegraf"/>
              </a:rPr>
              <a:t>e</a:t>
            </a:r>
            <a:r>
              <a:rPr lang="en-US" sz="2799" spc="47" strike="noStrike" u="none">
                <a:solidFill>
                  <a:srgbClr val="242526"/>
                </a:solidFill>
                <a:latin typeface="Telegraf"/>
                <a:ea typeface="Telegraf"/>
                <a:cs typeface="Telegraf"/>
                <a:sym typeface="Telegraf"/>
              </a:rPr>
              <a:t>ti</a:t>
            </a:r>
            <a:r>
              <a:rPr lang="en-US" sz="2799" spc="47" strike="noStrike" u="none">
                <a:solidFill>
                  <a:srgbClr val="242526"/>
                </a:solidFill>
                <a:latin typeface="Telegraf"/>
                <a:ea typeface="Telegraf"/>
                <a:cs typeface="Telegraf"/>
                <a:sym typeface="Telegraf"/>
              </a:rPr>
              <a:t>n</a:t>
            </a:r>
            <a:r>
              <a:rPr lang="en-US" sz="2799" spc="47" strike="noStrike" u="none">
                <a:solidFill>
                  <a:srgbClr val="242526"/>
                </a:solidFill>
                <a:latin typeface="Telegraf"/>
                <a:ea typeface="Telegraf"/>
                <a:cs typeface="Telegraf"/>
                <a:sym typeface="Telegraf"/>
              </a:rPr>
              <a:t>g Cas</a:t>
            </a:r>
            <a:r>
              <a:rPr lang="en-US" sz="2799" spc="47" strike="noStrike" u="none">
                <a:solidFill>
                  <a:srgbClr val="242526"/>
                </a:solidFill>
                <a:latin typeface="Telegraf"/>
                <a:ea typeface="Telegraf"/>
                <a:cs typeface="Telegraf"/>
                <a:sym typeface="Telegraf"/>
              </a:rPr>
              <a:t>e </a:t>
            </a:r>
            <a:r>
              <a:rPr lang="en-US" sz="2799" spc="47" strike="noStrike" u="none">
                <a:solidFill>
                  <a:srgbClr val="242526"/>
                </a:solidFill>
                <a:latin typeface="Telegraf"/>
                <a:ea typeface="Telegraf"/>
                <a:cs typeface="Telegraf"/>
                <a:sym typeface="Telegraf"/>
              </a:rPr>
              <a:t>S</a:t>
            </a:r>
            <a:r>
              <a:rPr lang="en-US" sz="2799" spc="47" strike="noStrike" u="none">
                <a:solidFill>
                  <a:srgbClr val="242526"/>
                </a:solidFill>
                <a:latin typeface="Telegraf"/>
                <a:ea typeface="Telegraf"/>
                <a:cs typeface="Telegraf"/>
                <a:sym typeface="Telegraf"/>
              </a:rPr>
              <a:t>tu</a:t>
            </a:r>
            <a:r>
              <a:rPr lang="en-US" sz="2799" spc="47" strike="noStrike" u="none">
                <a:solidFill>
                  <a:srgbClr val="242526"/>
                </a:solidFill>
                <a:latin typeface="Telegraf"/>
                <a:ea typeface="Telegraf"/>
                <a:cs typeface="Telegraf"/>
                <a:sym typeface="Telegraf"/>
              </a:rPr>
              <a:t>dy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539516" y="4534469"/>
            <a:ext cx="3580207" cy="15089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 spc="35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Dri</a:t>
            </a:r>
            <a:r>
              <a:rPr lang="en-US" sz="2100" spc="35" strike="noStrike" u="none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ving measurable business growth with Google Ads, Meta Ads, and data-driven optimization.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28700" y="1077984"/>
            <a:ext cx="16230600" cy="770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24"/>
              </a:lnSpc>
              <a:spcBef>
                <a:spcPct val="0"/>
              </a:spcBef>
            </a:pPr>
            <a:r>
              <a:rPr lang="en-US" b="true" sz="5600">
                <a:solidFill>
                  <a:srgbClr val="242526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PROJECT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2290369" y="6278542"/>
            <a:ext cx="4835581" cy="2979758"/>
            <a:chOff x="0" y="0"/>
            <a:chExt cx="855681" cy="52728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55681" cy="527284"/>
            </a:xfrm>
            <a:custGeom>
              <a:avLst/>
              <a:gdLst/>
              <a:ahLst/>
              <a:cxnLst/>
              <a:rect r="r" b="b" t="t" l="l"/>
              <a:pathLst>
                <a:path h="527284" w="855681">
                  <a:moveTo>
                    <a:pt x="0" y="0"/>
                  </a:moveTo>
                  <a:lnTo>
                    <a:pt x="855681" y="0"/>
                  </a:lnTo>
                  <a:lnTo>
                    <a:pt x="855681" y="527284"/>
                  </a:lnTo>
                  <a:lnTo>
                    <a:pt x="0" y="527284"/>
                  </a:lnTo>
                  <a:close/>
                </a:path>
              </a:pathLst>
            </a:custGeom>
            <a:solidFill>
              <a:srgbClr val="EFF1F4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76200"/>
              <a:ext cx="855681" cy="6034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2465355" y="6427168"/>
            <a:ext cx="4485608" cy="519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 spc="47">
                <a:solidFill>
                  <a:srgbClr val="242526"/>
                </a:solidFill>
                <a:latin typeface="Telegraf"/>
                <a:ea typeface="Telegraf"/>
                <a:cs typeface="Telegraf"/>
                <a:sym typeface="Telegraf"/>
              </a:rPr>
              <a:t>PPC Ca</a:t>
            </a:r>
            <a:r>
              <a:rPr lang="en-US" sz="2799" spc="47" strike="noStrike" u="none">
                <a:solidFill>
                  <a:srgbClr val="242526"/>
                </a:solidFill>
                <a:latin typeface="Telegraf"/>
                <a:ea typeface="Telegraf"/>
                <a:cs typeface="Telegraf"/>
                <a:sym typeface="Telegraf"/>
              </a:rPr>
              <a:t>mpa</a:t>
            </a:r>
            <a:r>
              <a:rPr lang="en-US" sz="2799" spc="47" strike="noStrike" u="none">
                <a:solidFill>
                  <a:srgbClr val="242526"/>
                </a:solidFill>
                <a:latin typeface="Telegraf"/>
                <a:ea typeface="Telegraf"/>
                <a:cs typeface="Telegraf"/>
                <a:sym typeface="Telegraf"/>
              </a:rPr>
              <a:t>ig</a:t>
            </a:r>
            <a:r>
              <a:rPr lang="en-US" sz="2799" spc="47" strike="noStrike" u="none">
                <a:solidFill>
                  <a:srgbClr val="242526"/>
                </a:solidFill>
                <a:latin typeface="Telegraf"/>
                <a:ea typeface="Telegraf"/>
                <a:cs typeface="Telegraf"/>
                <a:sym typeface="Telegraf"/>
              </a:rPr>
              <a:t>n</a:t>
            </a:r>
            <a:r>
              <a:rPr lang="en-US" sz="2799" spc="47" strike="noStrike" u="none">
                <a:solidFill>
                  <a:srgbClr val="242526"/>
                </a:solidFill>
                <a:latin typeface="Telegraf"/>
                <a:ea typeface="Telegraf"/>
                <a:cs typeface="Telegraf"/>
                <a:sym typeface="Telegraf"/>
              </a:rPr>
              <a:t> Ex</a:t>
            </a:r>
            <a:r>
              <a:rPr lang="en-US" sz="2799" spc="47" strike="noStrike" u="none">
                <a:solidFill>
                  <a:srgbClr val="242526"/>
                </a:solidFill>
                <a:latin typeface="Telegraf"/>
                <a:ea typeface="Telegraf"/>
                <a:cs typeface="Telegraf"/>
                <a:sym typeface="Telegraf"/>
              </a:rPr>
              <a:t>ce</a:t>
            </a:r>
            <a:r>
              <a:rPr lang="en-US" sz="2799" spc="47" strike="noStrike" u="none">
                <a:solidFill>
                  <a:srgbClr val="242526"/>
                </a:solidFill>
                <a:latin typeface="Telegraf"/>
                <a:ea typeface="Telegraf"/>
                <a:cs typeface="Telegraf"/>
                <a:sym typeface="Telegraf"/>
              </a:rPr>
              <a:t>ll</a:t>
            </a:r>
            <a:r>
              <a:rPr lang="en-US" sz="2799" spc="47" strike="noStrike" u="none">
                <a:solidFill>
                  <a:srgbClr val="242526"/>
                </a:solidFill>
                <a:latin typeface="Telegraf"/>
                <a:ea typeface="Telegraf"/>
                <a:cs typeface="Telegraf"/>
                <a:sym typeface="Telegraf"/>
              </a:rPr>
              <a:t>ence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587142" y="7102657"/>
            <a:ext cx="4318235" cy="1880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 spc="35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Creating high-perform</a:t>
            </a:r>
            <a:r>
              <a:rPr lang="en-US" sz="2100" spc="35" strike="noStrike" u="none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ing campaigns that generate qualified leads, increase conversions, and maximize return on ad spend.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E2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2307209"/>
            <a:ext cx="16230600" cy="0"/>
          </a:xfrm>
          <a:prstGeom prst="line">
            <a:avLst/>
          </a:prstGeom>
          <a:ln cap="flat" w="19050">
            <a:solidFill>
              <a:srgbClr val="A6A6A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H="true">
            <a:off x="1048073" y="6777742"/>
            <a:ext cx="7252819" cy="0"/>
          </a:xfrm>
          <a:prstGeom prst="line">
            <a:avLst/>
          </a:prstGeom>
          <a:ln cap="flat" w="19050">
            <a:solidFill>
              <a:srgbClr val="A6A6A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flipV="true">
            <a:off x="8281519" y="2307209"/>
            <a:ext cx="0" cy="6951091"/>
          </a:xfrm>
          <a:prstGeom prst="line">
            <a:avLst/>
          </a:prstGeom>
          <a:ln cap="flat" w="19050">
            <a:solidFill>
              <a:srgbClr val="A6A6A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8677925" y="3682619"/>
            <a:ext cx="2718988" cy="1700449"/>
            <a:chOff x="0" y="0"/>
            <a:chExt cx="646721" cy="40445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46721" cy="404458"/>
            </a:xfrm>
            <a:custGeom>
              <a:avLst/>
              <a:gdLst/>
              <a:ahLst/>
              <a:cxnLst/>
              <a:rect r="r" b="b" t="t" l="l"/>
              <a:pathLst>
                <a:path h="404458" w="646721">
                  <a:moveTo>
                    <a:pt x="0" y="0"/>
                  </a:moveTo>
                  <a:lnTo>
                    <a:pt x="646721" y="0"/>
                  </a:lnTo>
                  <a:lnTo>
                    <a:pt x="646721" y="404458"/>
                  </a:lnTo>
                  <a:lnTo>
                    <a:pt x="0" y="404458"/>
                  </a:lnTo>
                  <a:close/>
                </a:path>
              </a:pathLst>
            </a:custGeom>
            <a:blipFill>
              <a:blip r:embed="rId2"/>
              <a:stretch>
                <a:fillRect l="0" t="-11773" r="0" b="-1177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8654112" y="6534930"/>
            <a:ext cx="8605188" cy="2723370"/>
            <a:chOff x="0" y="0"/>
            <a:chExt cx="2046774" cy="64776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46774" cy="647763"/>
            </a:xfrm>
            <a:custGeom>
              <a:avLst/>
              <a:gdLst/>
              <a:ahLst/>
              <a:cxnLst/>
              <a:rect r="r" b="b" t="t" l="l"/>
              <a:pathLst>
                <a:path h="647763" w="2046774">
                  <a:moveTo>
                    <a:pt x="0" y="0"/>
                  </a:moveTo>
                  <a:lnTo>
                    <a:pt x="2046774" y="0"/>
                  </a:lnTo>
                  <a:lnTo>
                    <a:pt x="2046774" y="647763"/>
                  </a:lnTo>
                  <a:lnTo>
                    <a:pt x="0" y="647763"/>
                  </a:lnTo>
                  <a:close/>
                </a:path>
              </a:pathLst>
            </a:custGeom>
            <a:blipFill>
              <a:blip r:embed="rId3"/>
              <a:stretch>
                <a:fillRect l="-39970" t="-143183" r="-5585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4540312" y="3682619"/>
            <a:ext cx="2718988" cy="1700449"/>
            <a:chOff x="0" y="0"/>
            <a:chExt cx="646721" cy="40445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46721" cy="404458"/>
            </a:xfrm>
            <a:custGeom>
              <a:avLst/>
              <a:gdLst/>
              <a:ahLst/>
              <a:cxnLst/>
              <a:rect r="r" b="b" t="t" l="l"/>
              <a:pathLst>
                <a:path h="404458" w="646721">
                  <a:moveTo>
                    <a:pt x="0" y="0"/>
                  </a:moveTo>
                  <a:lnTo>
                    <a:pt x="646721" y="0"/>
                  </a:lnTo>
                  <a:lnTo>
                    <a:pt x="646721" y="404458"/>
                  </a:lnTo>
                  <a:lnTo>
                    <a:pt x="0" y="404458"/>
                  </a:lnTo>
                  <a:close/>
                </a:path>
              </a:pathLst>
            </a:custGeom>
            <a:blipFill>
              <a:blip r:embed="rId4"/>
              <a:stretch>
                <a:fillRect l="0" t="-29949" r="0" b="-29949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1609118" y="3682619"/>
            <a:ext cx="2718988" cy="1700449"/>
            <a:chOff x="0" y="0"/>
            <a:chExt cx="646721" cy="40445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46721" cy="404458"/>
            </a:xfrm>
            <a:custGeom>
              <a:avLst/>
              <a:gdLst/>
              <a:ahLst/>
              <a:cxnLst/>
              <a:rect r="r" b="b" t="t" l="l"/>
              <a:pathLst>
                <a:path h="404458" w="646721">
                  <a:moveTo>
                    <a:pt x="0" y="0"/>
                  </a:moveTo>
                  <a:lnTo>
                    <a:pt x="646721" y="0"/>
                  </a:lnTo>
                  <a:lnTo>
                    <a:pt x="646721" y="404458"/>
                  </a:lnTo>
                  <a:lnTo>
                    <a:pt x="0" y="404458"/>
                  </a:lnTo>
                  <a:close/>
                </a:path>
              </a:pathLst>
            </a:custGeom>
            <a:blipFill>
              <a:blip r:embed="rId5"/>
              <a:stretch>
                <a:fillRect l="0" t="-6038" r="0" b="-6038"/>
              </a:stretch>
            </a:blip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1048073" y="2717437"/>
            <a:ext cx="546127" cy="546127"/>
          </a:xfrm>
          <a:custGeom>
            <a:avLst/>
            <a:gdLst/>
            <a:ahLst/>
            <a:cxnLst/>
            <a:rect r="r" b="b" t="t" l="l"/>
            <a:pathLst>
              <a:path h="546127" w="546127">
                <a:moveTo>
                  <a:pt x="0" y="0"/>
                </a:moveTo>
                <a:lnTo>
                  <a:pt x="546127" y="0"/>
                </a:lnTo>
                <a:lnTo>
                  <a:pt x="546127" y="546127"/>
                </a:lnTo>
                <a:lnTo>
                  <a:pt x="0" y="54612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8654112" y="2718697"/>
            <a:ext cx="543607" cy="543607"/>
          </a:xfrm>
          <a:custGeom>
            <a:avLst/>
            <a:gdLst/>
            <a:ahLst/>
            <a:cxnLst/>
            <a:rect r="r" b="b" t="t" l="l"/>
            <a:pathLst>
              <a:path h="543607" w="543607">
                <a:moveTo>
                  <a:pt x="0" y="0"/>
                </a:moveTo>
                <a:lnTo>
                  <a:pt x="543607" y="0"/>
                </a:lnTo>
                <a:lnTo>
                  <a:pt x="543607" y="543607"/>
                </a:lnTo>
                <a:lnTo>
                  <a:pt x="0" y="54360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048073" y="7073956"/>
            <a:ext cx="546127" cy="546127"/>
          </a:xfrm>
          <a:custGeom>
            <a:avLst/>
            <a:gdLst/>
            <a:ahLst/>
            <a:cxnLst/>
            <a:rect r="r" b="b" t="t" l="l"/>
            <a:pathLst>
              <a:path h="546127" w="546127">
                <a:moveTo>
                  <a:pt x="0" y="0"/>
                </a:moveTo>
                <a:lnTo>
                  <a:pt x="546127" y="0"/>
                </a:lnTo>
                <a:lnTo>
                  <a:pt x="546127" y="546128"/>
                </a:lnTo>
                <a:lnTo>
                  <a:pt x="0" y="54612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8654112" y="5669616"/>
            <a:ext cx="546127" cy="546127"/>
          </a:xfrm>
          <a:custGeom>
            <a:avLst/>
            <a:gdLst/>
            <a:ahLst/>
            <a:cxnLst/>
            <a:rect r="r" b="b" t="t" l="l"/>
            <a:pathLst>
              <a:path h="546127" w="546127">
                <a:moveTo>
                  <a:pt x="0" y="0"/>
                </a:moveTo>
                <a:lnTo>
                  <a:pt x="546128" y="0"/>
                </a:lnTo>
                <a:lnTo>
                  <a:pt x="546128" y="546127"/>
                </a:lnTo>
                <a:lnTo>
                  <a:pt x="0" y="54612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038225" y="1153350"/>
            <a:ext cx="16221075" cy="954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00"/>
              </a:lnSpc>
              <a:spcBef>
                <a:spcPct val="0"/>
              </a:spcBef>
            </a:pPr>
            <a:r>
              <a:rPr lang="en-US" b="true" sz="7200" strike="noStrike" u="none">
                <a:solidFill>
                  <a:srgbClr val="100F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PROJECT WORKFLOW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888991" y="2745073"/>
            <a:ext cx="2568313" cy="548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60"/>
              </a:lnSpc>
              <a:spcBef>
                <a:spcPct val="0"/>
              </a:spcBef>
            </a:pPr>
            <a:r>
              <a:rPr lang="en-US" sz="4000" strike="noStrike" u="none">
                <a:solidFill>
                  <a:srgbClr val="242526"/>
                </a:solidFill>
                <a:latin typeface="Open Sauce"/>
                <a:ea typeface="Open Sauce"/>
                <a:cs typeface="Open Sauce"/>
                <a:sym typeface="Open Sauce"/>
              </a:rPr>
              <a:t>Brief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550144" y="2745073"/>
            <a:ext cx="7813931" cy="548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60"/>
              </a:lnSpc>
              <a:spcBef>
                <a:spcPct val="0"/>
              </a:spcBef>
            </a:pPr>
            <a:r>
              <a:rPr lang="en-US" sz="4000">
                <a:solidFill>
                  <a:srgbClr val="242526"/>
                </a:solidFill>
                <a:latin typeface="Open Sauce"/>
                <a:ea typeface="Open Sauce"/>
                <a:cs typeface="Open Sauce"/>
                <a:sym typeface="Open Sauce"/>
              </a:rPr>
              <a:t>Certificate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884551" y="7101592"/>
            <a:ext cx="6082804" cy="548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60"/>
              </a:lnSpc>
              <a:spcBef>
                <a:spcPct val="0"/>
              </a:spcBef>
            </a:pPr>
            <a:r>
              <a:rPr lang="en-US" sz="4000" strike="noStrike" u="none">
                <a:solidFill>
                  <a:srgbClr val="242526"/>
                </a:solidFill>
                <a:latin typeface="Open Sauce"/>
                <a:ea typeface="Open Sauce"/>
                <a:cs typeface="Open Sauce"/>
                <a:sym typeface="Open Sauce"/>
              </a:rPr>
              <a:t>Feedback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457415" y="5697252"/>
            <a:ext cx="7801885" cy="548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60"/>
              </a:lnSpc>
              <a:spcBef>
                <a:spcPct val="0"/>
              </a:spcBef>
            </a:pPr>
            <a:r>
              <a:rPr lang="en-US" sz="4000" strike="noStrike" u="none">
                <a:solidFill>
                  <a:srgbClr val="242526"/>
                </a:solidFill>
                <a:latin typeface="Open Sauce"/>
                <a:ea typeface="Open Sauce"/>
                <a:cs typeface="Open Sauce"/>
                <a:sym typeface="Open Sauce"/>
              </a:rPr>
              <a:t>Deliver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00125" y="3504692"/>
            <a:ext cx="7252819" cy="294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400" spc="40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As a Perf</a:t>
            </a:r>
            <a:r>
              <a:rPr lang="en-US" sz="2400" spc="40" strike="noStrike" u="none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orm</a:t>
            </a:r>
            <a:r>
              <a:rPr lang="en-US" sz="2400" spc="40" strike="noStrike" u="none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ance</a:t>
            </a:r>
            <a:r>
              <a:rPr lang="en-US" sz="2400" spc="40" strike="noStrike" u="none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400" spc="40" strike="noStrike" u="none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Market</a:t>
            </a:r>
            <a:r>
              <a:rPr lang="en-US" sz="2400" spc="40" strike="noStrike" u="none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i</a:t>
            </a:r>
            <a:r>
              <a:rPr lang="en-US" sz="2400" spc="40" strike="noStrike" u="none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ng S</a:t>
            </a:r>
            <a:r>
              <a:rPr lang="en-US" sz="2400" spc="40" strike="noStrike" u="none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p</a:t>
            </a:r>
            <a:r>
              <a:rPr lang="en-US" sz="2400" spc="40" strike="noStrike" u="none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eciali</a:t>
            </a:r>
            <a:r>
              <a:rPr lang="en-US" sz="2400" spc="40" strike="noStrike" u="none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s</a:t>
            </a:r>
            <a:r>
              <a:rPr lang="en-US" sz="2400" spc="40" strike="noStrike" u="none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t</a:t>
            </a:r>
            <a:r>
              <a:rPr lang="en-US" sz="2400" spc="40" strike="noStrike" u="none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400" spc="40" strike="noStrike" u="none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with </a:t>
            </a:r>
            <a:r>
              <a:rPr lang="en-US" sz="2400" spc="40" strike="noStrike" u="none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o</a:t>
            </a:r>
            <a:r>
              <a:rPr lang="en-US" sz="2400" spc="40" strike="noStrike" u="none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ve</a:t>
            </a:r>
            <a:r>
              <a:rPr lang="en-US" sz="2400" spc="40" strike="noStrike" u="none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r </a:t>
            </a:r>
            <a:r>
              <a:rPr lang="en-US" sz="2400" spc="40" strike="noStrike" u="none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6 year</a:t>
            </a:r>
            <a:r>
              <a:rPr lang="en-US" sz="2400" spc="40" strike="noStrike" u="none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s</a:t>
            </a:r>
            <a:r>
              <a:rPr lang="en-US" sz="2400" spc="40" strike="noStrike" u="none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 of exper</a:t>
            </a:r>
            <a:r>
              <a:rPr lang="en-US" sz="2400" spc="40" strike="noStrike" u="none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i</a:t>
            </a:r>
            <a:r>
              <a:rPr lang="en-US" sz="2400" spc="40" strike="noStrike" u="none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ence, I</a:t>
            </a:r>
            <a:r>
              <a:rPr lang="en-US" sz="2400" spc="40" strike="noStrike" u="none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400" spc="40" strike="noStrike" u="none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h</a:t>
            </a:r>
            <a:r>
              <a:rPr lang="en-US" sz="2400" spc="40" strike="noStrike" u="none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a</a:t>
            </a:r>
            <a:r>
              <a:rPr lang="en-US" sz="2400" spc="40" strike="noStrike" u="none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v</a:t>
            </a:r>
            <a:r>
              <a:rPr lang="en-US" sz="2400" spc="40" strike="noStrike" u="none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e </a:t>
            </a:r>
            <a:r>
              <a:rPr lang="en-US" sz="2400" spc="40" strike="noStrike" u="none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suc</a:t>
            </a:r>
            <a:r>
              <a:rPr lang="en-US" sz="2400" spc="40" strike="noStrike" u="none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c</a:t>
            </a:r>
            <a:r>
              <a:rPr lang="en-US" sz="2400" spc="40" strike="noStrike" u="none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essfully pla</a:t>
            </a:r>
            <a:r>
              <a:rPr lang="en-US" sz="2400" spc="40" strike="noStrike" u="none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n</a:t>
            </a:r>
            <a:r>
              <a:rPr lang="en-US" sz="2400" spc="40" strike="noStrike" u="none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ned, ex</a:t>
            </a:r>
            <a:r>
              <a:rPr lang="en-US" sz="2400" spc="40" strike="noStrike" u="none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ec</a:t>
            </a:r>
            <a:r>
              <a:rPr lang="en-US" sz="2400" spc="40" strike="noStrike" u="none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u</a:t>
            </a:r>
            <a:r>
              <a:rPr lang="en-US" sz="2400" spc="40" strike="noStrike" u="none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te</a:t>
            </a:r>
            <a:r>
              <a:rPr lang="en-US" sz="2400" spc="40" strike="noStrike" u="none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d,</a:t>
            </a:r>
            <a:r>
              <a:rPr lang="en-US" sz="2400" spc="40" strike="noStrike" u="none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 a</a:t>
            </a:r>
            <a:r>
              <a:rPr lang="en-US" sz="2400" spc="40" strike="noStrike" u="none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n</a:t>
            </a:r>
            <a:r>
              <a:rPr lang="en-US" sz="2400" spc="40" strike="noStrike" u="none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d</a:t>
            </a:r>
            <a:r>
              <a:rPr lang="en-US" sz="2400" spc="40" strike="noStrike" u="none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 o</a:t>
            </a:r>
            <a:r>
              <a:rPr lang="en-US" sz="2400" spc="40" strike="noStrike" u="none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p</a:t>
            </a:r>
            <a:r>
              <a:rPr lang="en-US" sz="2400" spc="40" strike="noStrike" u="none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t</a:t>
            </a:r>
            <a:r>
              <a:rPr lang="en-US" sz="2400" spc="40" strike="noStrike" u="none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i</a:t>
            </a:r>
            <a:r>
              <a:rPr lang="en-US" sz="2400" spc="40" strike="noStrike" u="none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m</a:t>
            </a:r>
            <a:r>
              <a:rPr lang="en-US" sz="2400" spc="40" strike="noStrike" u="none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i</a:t>
            </a:r>
            <a:r>
              <a:rPr lang="en-US" sz="2400" spc="40" strike="noStrike" u="none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zed Goo</a:t>
            </a:r>
            <a:r>
              <a:rPr lang="en-US" sz="2400" spc="40" strike="noStrike" u="none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g</a:t>
            </a:r>
            <a:r>
              <a:rPr lang="en-US" sz="2400" spc="40" strike="noStrike" u="none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le</a:t>
            </a:r>
            <a:r>
              <a:rPr lang="en-US" sz="2400" spc="40" strike="noStrike" u="none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400" spc="40" strike="noStrike" u="none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Ads and M</a:t>
            </a:r>
            <a:r>
              <a:rPr lang="en-US" sz="2400" spc="40" strike="noStrike" u="none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et</a:t>
            </a:r>
            <a:r>
              <a:rPr lang="en-US" sz="2400" spc="40" strike="noStrike" u="none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a</a:t>
            </a:r>
            <a:r>
              <a:rPr lang="en-US" sz="2400" spc="40" strike="noStrike" u="none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400" spc="40" strike="noStrike" u="none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Ad</a:t>
            </a:r>
            <a:r>
              <a:rPr lang="en-US" sz="2400" spc="40" strike="noStrike" u="none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s</a:t>
            </a:r>
            <a:r>
              <a:rPr lang="en-US" sz="2400" spc="40" strike="noStrike" u="none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 campaigns</a:t>
            </a:r>
            <a:r>
              <a:rPr lang="en-US" sz="2400" spc="40" strike="noStrike" u="none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400" spc="40" strike="noStrike" u="none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acr</a:t>
            </a:r>
            <a:r>
              <a:rPr lang="en-US" sz="2400" spc="40" strike="noStrike" u="none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o</a:t>
            </a:r>
            <a:r>
              <a:rPr lang="en-US" sz="2400" spc="40" strike="noStrike" u="none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ss</a:t>
            </a:r>
            <a:r>
              <a:rPr lang="en-US" sz="2400" spc="40" strike="noStrike" u="none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400" spc="40" strike="noStrike" u="none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multipl</a:t>
            </a:r>
            <a:r>
              <a:rPr lang="en-US" sz="2400" spc="40" strike="noStrike" u="none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e</a:t>
            </a:r>
            <a:r>
              <a:rPr lang="en-US" sz="2400" spc="40" strike="noStrike" u="none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400" spc="40" strike="noStrike" u="none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i</a:t>
            </a:r>
            <a:r>
              <a:rPr lang="en-US" sz="2400" spc="40" strike="noStrike" u="none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nd</a:t>
            </a:r>
            <a:r>
              <a:rPr lang="en-US" sz="2400" spc="40" strike="noStrike" u="none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ustr</a:t>
            </a:r>
            <a:r>
              <a:rPr lang="en-US" sz="2400" spc="40" strike="noStrike" u="none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ies,</a:t>
            </a:r>
            <a:r>
              <a:rPr lang="en-US" sz="2400" spc="40" strike="noStrike" u="none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 inc</a:t>
            </a:r>
            <a:r>
              <a:rPr lang="en-US" sz="2400" spc="40" strike="noStrike" u="none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lu</a:t>
            </a:r>
            <a:r>
              <a:rPr lang="en-US" sz="2400" spc="40" strike="noStrike" u="none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din</a:t>
            </a:r>
            <a:r>
              <a:rPr lang="en-US" sz="2400" spc="40" strike="noStrike" u="none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g</a:t>
            </a:r>
            <a:r>
              <a:rPr lang="en-US" sz="2400" spc="40" strike="noStrike" u="none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400" spc="40" strike="noStrike" u="none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eC</a:t>
            </a:r>
            <a:r>
              <a:rPr lang="en-US" sz="2400" spc="40" strike="noStrike" u="none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o</a:t>
            </a:r>
            <a:r>
              <a:rPr lang="en-US" sz="2400" spc="40" strike="noStrike" u="none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mme</a:t>
            </a:r>
            <a:r>
              <a:rPr lang="en-US" sz="2400" spc="40" strike="noStrike" u="none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r</a:t>
            </a:r>
            <a:r>
              <a:rPr lang="en-US" sz="2400" spc="40" strike="noStrike" u="none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c</a:t>
            </a:r>
            <a:r>
              <a:rPr lang="en-US" sz="2400" spc="40" strike="noStrike" u="none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e</a:t>
            </a:r>
            <a:r>
              <a:rPr lang="en-US" sz="2400" spc="40" strike="noStrike" u="none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,</a:t>
            </a:r>
            <a:r>
              <a:rPr lang="en-US" sz="2400" spc="40" strike="noStrike" u="none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400" spc="40" strike="noStrike" u="none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r</a:t>
            </a:r>
            <a:r>
              <a:rPr lang="en-US" sz="2400" spc="40" strike="noStrike" u="none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e</a:t>
            </a:r>
            <a:r>
              <a:rPr lang="en-US" sz="2400" spc="40" strike="noStrike" u="none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al es</a:t>
            </a:r>
            <a:r>
              <a:rPr lang="en-US" sz="2400" spc="40" strike="noStrike" u="none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t</a:t>
            </a:r>
            <a:r>
              <a:rPr lang="en-US" sz="2400" spc="40" strike="noStrike" u="none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ate, interior</a:t>
            </a:r>
            <a:r>
              <a:rPr lang="en-US" sz="2400" spc="40" strike="noStrike" u="none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 d</a:t>
            </a:r>
            <a:r>
              <a:rPr lang="en-US" sz="2400" spc="40" strike="noStrike" u="none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esign, hea</a:t>
            </a:r>
            <a:r>
              <a:rPr lang="en-US" sz="2400" spc="40" strike="noStrike" u="none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l</a:t>
            </a:r>
            <a:r>
              <a:rPr lang="en-US" sz="2400" spc="40" strike="noStrike" u="none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thca</a:t>
            </a:r>
            <a:r>
              <a:rPr lang="en-US" sz="2400" spc="40" strike="noStrike" u="none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re</a:t>
            </a:r>
            <a:r>
              <a:rPr lang="en-US" sz="2400" spc="40" strike="noStrike" u="none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,</a:t>
            </a:r>
            <a:r>
              <a:rPr lang="en-US" sz="2400" spc="40" strike="noStrike" u="none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400" spc="40" strike="noStrike" u="none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educ</a:t>
            </a:r>
            <a:r>
              <a:rPr lang="en-US" sz="2400" spc="40" strike="noStrike" u="none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a</a:t>
            </a:r>
            <a:r>
              <a:rPr lang="en-US" sz="2400" spc="40" strike="noStrike" u="none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tio</a:t>
            </a:r>
            <a:r>
              <a:rPr lang="en-US" sz="2400" spc="40" strike="noStrike" u="none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n</a:t>
            </a:r>
            <a:r>
              <a:rPr lang="en-US" sz="2400" spc="40" strike="noStrike" u="none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, </a:t>
            </a:r>
            <a:r>
              <a:rPr lang="en-US" sz="2400" spc="40" strike="noStrike" u="none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a</a:t>
            </a:r>
            <a:r>
              <a:rPr lang="en-US" sz="2400" spc="40" strike="noStrike" u="none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nd</a:t>
            </a:r>
            <a:r>
              <a:rPr lang="en-US" sz="2400" spc="40" strike="noStrike" u="none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400" spc="40" strike="noStrike" u="none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loc</a:t>
            </a:r>
            <a:r>
              <a:rPr lang="en-US" sz="2400" spc="40" strike="noStrike" u="none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al</a:t>
            </a:r>
            <a:r>
              <a:rPr lang="en-US" sz="2400" spc="40" strike="noStrike" u="none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 b</a:t>
            </a:r>
            <a:r>
              <a:rPr lang="en-US" sz="2400" spc="40" strike="noStrike" u="none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u</a:t>
            </a:r>
            <a:r>
              <a:rPr lang="en-US" sz="2400" spc="40" strike="noStrike" u="none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sinesses</a:t>
            </a:r>
            <a:r>
              <a:rPr lang="en-US" sz="2400" spc="40" strike="noStrike" u="none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30895" y="7859148"/>
            <a:ext cx="6857209" cy="1272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737373"/>
                </a:solidFill>
                <a:latin typeface="Telegraf"/>
                <a:ea typeface="Telegraf"/>
                <a:cs typeface="Telegraf"/>
                <a:sym typeface="Telegraf"/>
              </a:rPr>
              <a:t>Successfully managed high-performing Google Ads campaigns, generating quality leads through data-driven optimization.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6129529"/>
            <a:ext cx="18288000" cy="4157471"/>
            <a:chOff x="0" y="0"/>
            <a:chExt cx="4816593" cy="109497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1094972"/>
            </a:xfrm>
            <a:custGeom>
              <a:avLst/>
              <a:gdLst/>
              <a:ahLst/>
              <a:cxnLst/>
              <a:rect r="r" b="b" t="t" l="l"/>
              <a:pathLst>
                <a:path h="109497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094972"/>
                  </a:lnTo>
                  <a:lnTo>
                    <a:pt x="0" y="1094972"/>
                  </a:lnTo>
                  <a:close/>
                </a:path>
              </a:pathLst>
            </a:custGeom>
            <a:solidFill>
              <a:srgbClr val="DFE2E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4816593" cy="11711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1028700" y="9258300"/>
            <a:ext cx="16230600" cy="0"/>
          </a:xfrm>
          <a:prstGeom prst="line">
            <a:avLst/>
          </a:prstGeom>
          <a:ln cap="flat" w="19050">
            <a:solidFill>
              <a:srgbClr val="A6A6A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true" flipV="false" rot="0">
            <a:off x="15555274" y="7245999"/>
            <a:ext cx="1704026" cy="1652905"/>
          </a:xfrm>
          <a:custGeom>
            <a:avLst/>
            <a:gdLst/>
            <a:ahLst/>
            <a:cxnLst/>
            <a:rect r="r" b="b" t="t" l="l"/>
            <a:pathLst>
              <a:path h="1652905" w="1704026">
                <a:moveTo>
                  <a:pt x="1704026" y="0"/>
                </a:moveTo>
                <a:lnTo>
                  <a:pt x="0" y="0"/>
                </a:lnTo>
                <a:lnTo>
                  <a:pt x="0" y="1652905"/>
                </a:lnTo>
                <a:lnTo>
                  <a:pt x="1704026" y="1652905"/>
                </a:lnTo>
                <a:lnTo>
                  <a:pt x="170402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1228725"/>
            <a:ext cx="13512911" cy="400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400"/>
              </a:lnSpc>
              <a:spcBef>
                <a:spcPct val="0"/>
              </a:spcBef>
            </a:pPr>
            <a:r>
              <a:rPr lang="en-US" b="true" sz="10400">
                <a:solidFill>
                  <a:srgbClr val="242526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</a:t>
            </a:r>
            <a:r>
              <a:rPr lang="en-US" b="true" sz="10400" strike="noStrike" u="none">
                <a:solidFill>
                  <a:srgbClr val="242526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ET</a:t>
            </a:r>
            <a:r>
              <a:rPr lang="en-US" b="true" sz="10400" strike="noStrike" u="none">
                <a:solidFill>
                  <a:srgbClr val="242526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’S</a:t>
            </a:r>
            <a:r>
              <a:rPr lang="en-US" b="true" sz="10400" strike="noStrike" u="none">
                <a:solidFill>
                  <a:srgbClr val="242526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en-US" b="true" sz="10400" strike="noStrike" u="none">
                <a:solidFill>
                  <a:srgbClr val="242526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BUILD S</a:t>
            </a:r>
            <a:r>
              <a:rPr lang="en-US" b="true" sz="10400" strike="noStrike" u="none">
                <a:solidFill>
                  <a:srgbClr val="242526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</a:t>
            </a:r>
            <a:r>
              <a:rPr lang="en-US" b="true" sz="10400" strike="noStrike" u="none">
                <a:solidFill>
                  <a:srgbClr val="242526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METHING G</a:t>
            </a:r>
            <a:r>
              <a:rPr lang="en-US" b="true" sz="10400" strike="noStrike" u="none">
                <a:solidFill>
                  <a:srgbClr val="242526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</a:t>
            </a:r>
            <a:r>
              <a:rPr lang="en-US" b="true" sz="10400" strike="noStrike" u="none">
                <a:solidFill>
                  <a:srgbClr val="242526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EAT</a:t>
            </a:r>
            <a:r>
              <a:rPr lang="en-US" b="true" sz="10400" strike="noStrike" u="none">
                <a:solidFill>
                  <a:srgbClr val="242526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TOGETHER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7303149"/>
            <a:ext cx="6996151" cy="159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59"/>
              </a:lnSpc>
              <a:spcBef>
                <a:spcPct val="0"/>
              </a:spcBef>
            </a:pPr>
            <a:r>
              <a:rPr lang="en-US" sz="3999" strike="noStrike" u="none">
                <a:solidFill>
                  <a:srgbClr val="737373"/>
                </a:solidFill>
                <a:latin typeface="Open Sauce"/>
                <a:ea typeface="Open Sauce"/>
                <a:cs typeface="Open Sauce"/>
                <a:sym typeface="Open Sauce"/>
              </a:rPr>
              <a:t>I'm currently available for freelance and full-time opportunities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E2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6793230"/>
            <a:ext cx="7864263" cy="2465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800">
                <a:solidFill>
                  <a:srgbClr val="737373"/>
                </a:solidFill>
                <a:latin typeface="Open Sauce"/>
                <a:ea typeface="Open Sauce"/>
                <a:cs typeface="Open Sauce"/>
                <a:sym typeface="Open Sauce"/>
              </a:rPr>
              <a:t>Connect with me —</a:t>
            </a:r>
          </a:p>
          <a:p>
            <a:pPr algn="l" marL="0" indent="0" lvl="0">
              <a:lnSpc>
                <a:spcPts val="4800"/>
              </a:lnSpc>
              <a:spcBef>
                <a:spcPct val="0"/>
              </a:spcBef>
            </a:pPr>
            <a:r>
              <a:rPr lang="en-US" sz="4800">
                <a:solidFill>
                  <a:srgbClr val="737373"/>
                </a:solidFill>
                <a:latin typeface="Open Sauce"/>
                <a:ea typeface="Open Sauce"/>
                <a:cs typeface="Open Sauce"/>
                <a:sym typeface="Open Sauce"/>
              </a:rPr>
              <a:t>and explore how we can create something impactful together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9200877" y="6697980"/>
            <a:ext cx="539877" cy="539877"/>
          </a:xfrm>
          <a:custGeom>
            <a:avLst/>
            <a:gdLst/>
            <a:ahLst/>
            <a:cxnLst/>
            <a:rect r="r" b="b" t="t" l="l"/>
            <a:pathLst>
              <a:path h="539877" w="539877">
                <a:moveTo>
                  <a:pt x="0" y="0"/>
                </a:moveTo>
                <a:lnTo>
                  <a:pt x="539877" y="0"/>
                </a:lnTo>
                <a:lnTo>
                  <a:pt x="539877" y="539877"/>
                </a:lnTo>
                <a:lnTo>
                  <a:pt x="0" y="5398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085122" y="6787071"/>
            <a:ext cx="4733376" cy="390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11"/>
              </a:lnSpc>
              <a:spcBef>
                <a:spcPct val="0"/>
              </a:spcBef>
            </a:pPr>
            <a:r>
              <a:rPr lang="en-US" sz="2799" strike="noStrike" u="none">
                <a:solidFill>
                  <a:srgbClr val="242526"/>
                </a:solidFill>
                <a:latin typeface="Open Sauce"/>
                <a:ea typeface="Open Sauce"/>
                <a:cs typeface="Open Sauce"/>
                <a:sym typeface="Open Sauce"/>
              </a:rPr>
              <a:t>+92</a:t>
            </a:r>
            <a:r>
              <a:rPr lang="en-US" sz="2799" strike="noStrike" u="none">
                <a:solidFill>
                  <a:srgbClr val="242526"/>
                </a:solidFill>
                <a:latin typeface="Open Sauce"/>
                <a:ea typeface="Open Sauce"/>
                <a:cs typeface="Open Sauce"/>
                <a:sym typeface="Open Sauce"/>
              </a:rPr>
              <a:t> 301 7740420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9200877" y="7708202"/>
            <a:ext cx="539877" cy="539877"/>
          </a:xfrm>
          <a:custGeom>
            <a:avLst/>
            <a:gdLst/>
            <a:ahLst/>
            <a:cxnLst/>
            <a:rect r="r" b="b" t="t" l="l"/>
            <a:pathLst>
              <a:path h="539877" w="539877">
                <a:moveTo>
                  <a:pt x="0" y="0"/>
                </a:moveTo>
                <a:lnTo>
                  <a:pt x="539877" y="0"/>
                </a:lnTo>
                <a:lnTo>
                  <a:pt x="539877" y="539876"/>
                </a:lnTo>
                <a:lnTo>
                  <a:pt x="0" y="5398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085122" y="7797292"/>
            <a:ext cx="7174178" cy="390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11"/>
              </a:lnSpc>
              <a:spcBef>
                <a:spcPct val="0"/>
              </a:spcBef>
            </a:pPr>
            <a:r>
              <a:rPr lang="en-US" sz="2799">
                <a:solidFill>
                  <a:srgbClr val="242526"/>
                </a:solidFill>
                <a:latin typeface="Open Sauce"/>
                <a:ea typeface="Open Sauce"/>
                <a:cs typeface="Open Sauce"/>
                <a:sym typeface="Open Sauce"/>
              </a:rPr>
              <a:t>mahmadmj78@gmail.com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9205441" y="8720378"/>
            <a:ext cx="530750" cy="537922"/>
          </a:xfrm>
          <a:custGeom>
            <a:avLst/>
            <a:gdLst/>
            <a:ahLst/>
            <a:cxnLst/>
            <a:rect r="r" b="b" t="t" l="l"/>
            <a:pathLst>
              <a:path h="537922" w="530750">
                <a:moveTo>
                  <a:pt x="0" y="0"/>
                </a:moveTo>
                <a:lnTo>
                  <a:pt x="530749" y="0"/>
                </a:lnTo>
                <a:lnTo>
                  <a:pt x="530749" y="537922"/>
                </a:lnTo>
                <a:lnTo>
                  <a:pt x="0" y="53792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085122" y="8808491"/>
            <a:ext cx="4733376" cy="390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11"/>
              </a:lnSpc>
              <a:spcBef>
                <a:spcPct val="0"/>
              </a:spcBef>
            </a:pPr>
            <a:r>
              <a:rPr lang="en-US" sz="2799">
                <a:solidFill>
                  <a:srgbClr val="242526"/>
                </a:solidFill>
                <a:latin typeface="Open Sauce"/>
                <a:ea typeface="Open Sauce"/>
                <a:cs typeface="Open Sauce"/>
                <a:sym typeface="Open Sauce"/>
              </a:rPr>
              <a:t>@Ahmad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1228725"/>
            <a:ext cx="16230600" cy="1378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400"/>
              </a:lnSpc>
              <a:spcBef>
                <a:spcPct val="0"/>
              </a:spcBef>
            </a:pPr>
            <a:r>
              <a:rPr lang="en-US" b="true" sz="10400">
                <a:solidFill>
                  <a:srgbClr val="242526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DROP A MESSAGE</a:t>
            </a:r>
          </a:p>
        </p:txBody>
      </p:sp>
      <p:sp>
        <p:nvSpPr>
          <p:cNvPr name="AutoShape 10" id="10"/>
          <p:cNvSpPr/>
          <p:nvPr/>
        </p:nvSpPr>
        <p:spPr>
          <a:xfrm>
            <a:off x="1085577" y="2850005"/>
            <a:ext cx="16230600" cy="0"/>
          </a:xfrm>
          <a:prstGeom prst="line">
            <a:avLst/>
          </a:prstGeom>
          <a:ln cap="flat" w="19050">
            <a:solidFill>
              <a:srgbClr val="A6A6A6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DAHNwYMu_VU</dc:identifier>
  <dcterms:modified xsi:type="dcterms:W3CDTF">2011-08-01T06:04:30Z</dcterms:modified>
  <cp:revision>1</cp:revision>
  <dc:title>Muhammad Ahmad Performance Marketing Specialist</dc:title>
</cp:coreProperties>
</file>